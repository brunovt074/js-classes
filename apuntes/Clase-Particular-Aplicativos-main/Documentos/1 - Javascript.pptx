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4"/>
  </p:sldMasterIdLst>
  <p:sldIdLst>
    <p:sldId id="256" r:id="rId5"/>
    <p:sldId id="305" r:id="rId6"/>
    <p:sldId id="306" r:id="rId7"/>
    <p:sldId id="307" r:id="rId8"/>
    <p:sldId id="283" r:id="rId9"/>
    <p:sldId id="285" r:id="rId10"/>
    <p:sldId id="289" r:id="rId11"/>
    <p:sldId id="286" r:id="rId12"/>
    <p:sldId id="287" r:id="rId13"/>
    <p:sldId id="300" r:id="rId14"/>
    <p:sldId id="290" r:id="rId15"/>
    <p:sldId id="291" r:id="rId16"/>
    <p:sldId id="284" r:id="rId17"/>
    <p:sldId id="295" r:id="rId18"/>
    <p:sldId id="257" r:id="rId19"/>
    <p:sldId id="258" r:id="rId20"/>
    <p:sldId id="299" r:id="rId21"/>
    <p:sldId id="259" r:id="rId22"/>
    <p:sldId id="260" r:id="rId23"/>
    <p:sldId id="261" r:id="rId24"/>
    <p:sldId id="262" r:id="rId25"/>
    <p:sldId id="263" r:id="rId26"/>
    <p:sldId id="264" r:id="rId27"/>
    <p:sldId id="265" r:id="rId28"/>
    <p:sldId id="292" r:id="rId29"/>
    <p:sldId id="293" r:id="rId30"/>
    <p:sldId id="301" r:id="rId31"/>
    <p:sldId id="302" r:id="rId32"/>
    <p:sldId id="303" r:id="rId33"/>
    <p:sldId id="304" r:id="rId34"/>
    <p:sldId id="296" r:id="rId35"/>
    <p:sldId id="268" r:id="rId36"/>
    <p:sldId id="270" r:id="rId37"/>
    <p:sldId id="271" r:id="rId38"/>
    <p:sldId id="272" r:id="rId39"/>
    <p:sldId id="298" r:id="rId40"/>
    <p:sldId id="274" r:id="rId41"/>
    <p:sldId id="309" r:id="rId42"/>
    <p:sldId id="310" r:id="rId43"/>
    <p:sldId id="297" r:id="rId44"/>
    <p:sldId id="275" r:id="rId45"/>
    <p:sldId id="308" r:id="rId46"/>
    <p:sldId id="279" r:id="rId47"/>
    <p:sldId id="280" r:id="rId48"/>
    <p:sldId id="277" r:id="rId49"/>
    <p:sldId id="312" r:id="rId50"/>
    <p:sldId id="311" r:id="rId51"/>
    <p:sldId id="278" r:id="rId52"/>
    <p:sldId id="281" r:id="rId53"/>
    <p:sldId id="282"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815507-8411-42B7-AA46-48E3C4F7B494}" v="181" dt="2025-10-09T12:54:40.4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6" d="100"/>
          <a:sy n="76" d="100"/>
        </p:scale>
        <p:origin x="53"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11/16/2025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‹Nº›</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11/16/2025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7" name="Date Placeholder 6"/>
          <p:cNvSpPr>
            <a:spLocks noGrp="1"/>
          </p:cNvSpPr>
          <p:nvPr>
            <p:ph type="dt" sz="half" idx="10"/>
          </p:nvPr>
        </p:nvSpPr>
        <p:spPr/>
        <p:txBody>
          <a:bodyPr/>
          <a:lstStyle/>
          <a:p>
            <a:fld id="{1160EA64-D806-43AC-9DF2-F8C432F32B4C}" type="datetimeFigureOut">
              <a:rPr lang="en-US" dirty="0"/>
              <a:t>11/16/2025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‹Nº›</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11/16/2025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583436" y="3143250"/>
            <a:ext cx="4270248" cy="259677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7" name="Date Placeholder 6"/>
          <p:cNvSpPr>
            <a:spLocks noGrp="1"/>
          </p:cNvSpPr>
          <p:nvPr>
            <p:ph type="dt" sz="half" idx="10"/>
          </p:nvPr>
        </p:nvSpPr>
        <p:spPr/>
        <p:txBody>
          <a:bodyPr/>
          <a:lstStyle/>
          <a:p>
            <a:fld id="{4F7D4976-E339-4826-83B7-FBD03F55ECF8}" type="datetimeFigureOut">
              <a:rPr lang="en-US" dirty="0"/>
              <a:t>11/16/2025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‹Nº›</a:t>
            </a:fld>
            <a:endParaRPr lang="en-US" dirty="0"/>
          </a:p>
        </p:txBody>
      </p:sp>
      <p:sp>
        <p:nvSpPr>
          <p:cNvPr id="10" name="Title 9"/>
          <p:cNvSpPr>
            <a:spLocks noGrp="1"/>
          </p:cNvSpPr>
          <p:nvPr>
            <p:ph type="title"/>
          </p:nvPr>
        </p:nvSpPr>
        <p:spPr/>
        <p:txBody>
          <a:bodyPr/>
          <a:lstStyle/>
          <a:p>
            <a:r>
              <a:rPr lang="es-ES"/>
              <a:t>Haga clic para modificar el estilo de título del patrón</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11/16/2025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11/16/2025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9" name="Date Placeholder 8"/>
          <p:cNvSpPr>
            <a:spLocks noGrp="1"/>
          </p:cNvSpPr>
          <p:nvPr>
            <p:ph type="dt" sz="half" idx="10"/>
          </p:nvPr>
        </p:nvSpPr>
        <p:spPr/>
        <p:txBody>
          <a:bodyPr/>
          <a:lstStyle/>
          <a:p>
            <a:fld id="{D1BE4249-C0D0-4B06-8692-E8BB871AF643}" type="datetimeFigureOut">
              <a:rPr lang="en-US" dirty="0"/>
              <a:t>11/16/2025</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11/16/2025</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11/16/2025</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emf"/><Relationship Id="rId7" Type="http://schemas.openxmlformats.org/officeDocument/2006/relationships/image" Target="../media/image15.emf"/><Relationship Id="rId2" Type="http://schemas.openxmlformats.org/officeDocument/2006/relationships/oleObject" Target="../embeddings/oleObject2.bin"/><Relationship Id="rId1" Type="http://schemas.openxmlformats.org/officeDocument/2006/relationships/slideLayout" Target="../slideLayouts/slideLayout8.xml"/><Relationship Id="rId6" Type="http://schemas.openxmlformats.org/officeDocument/2006/relationships/oleObject" Target="../embeddings/oleObject4.bin"/><Relationship Id="rId5" Type="http://schemas.openxmlformats.org/officeDocument/2006/relationships/image" Target="../media/image14.emf"/><Relationship Id="rId10" Type="http://schemas.openxmlformats.org/officeDocument/2006/relationships/image" Target="../media/image18.png"/><Relationship Id="rId4" Type="http://schemas.openxmlformats.org/officeDocument/2006/relationships/oleObject" Target="../embeddings/oleObject3.bin"/><Relationship Id="rId9"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6.xml"/><Relationship Id="rId5" Type="http://schemas.openxmlformats.org/officeDocument/2006/relationships/image" Target="../media/image39.png"/><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s://www.w3schools.com/js/js_array_methods.as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47DA82-EDC8-2C13-6A3B-85E3F0E4B134}"/>
              </a:ext>
            </a:extLst>
          </p:cNvPr>
          <p:cNvSpPr>
            <a:spLocks noGrp="1"/>
          </p:cNvSpPr>
          <p:nvPr>
            <p:ph type="ctrTitle"/>
          </p:nvPr>
        </p:nvSpPr>
        <p:spPr>
          <a:xfrm>
            <a:off x="5458969" y="2386744"/>
            <a:ext cx="5928358" cy="1645920"/>
          </a:xfrm>
        </p:spPr>
        <p:txBody>
          <a:bodyPr>
            <a:normAutofit/>
          </a:bodyPr>
          <a:lstStyle/>
          <a:p>
            <a:r>
              <a:rPr lang="es-ES" dirty="0"/>
              <a:t>REPASO JAVASCRIPT</a:t>
            </a:r>
            <a:endParaRPr lang="es-AR" dirty="0"/>
          </a:p>
        </p:txBody>
      </p:sp>
      <p:sp>
        <p:nvSpPr>
          <p:cNvPr id="3" name="Subtítulo 2">
            <a:extLst>
              <a:ext uri="{FF2B5EF4-FFF2-40B4-BE49-F238E27FC236}">
                <a16:creationId xmlns:a16="http://schemas.microsoft.com/office/drawing/2014/main" id="{CE4E7960-475A-A3A4-8BC1-67510BF83CCF}"/>
              </a:ext>
            </a:extLst>
          </p:cNvPr>
          <p:cNvSpPr>
            <a:spLocks noGrp="1"/>
          </p:cNvSpPr>
          <p:nvPr>
            <p:ph type="subTitle" idx="1"/>
          </p:nvPr>
        </p:nvSpPr>
        <p:spPr>
          <a:xfrm>
            <a:off x="5458969" y="4352544"/>
            <a:ext cx="5928358" cy="1239894"/>
          </a:xfrm>
        </p:spPr>
        <p:txBody>
          <a:bodyPr>
            <a:normAutofit/>
          </a:bodyPr>
          <a:lstStyle/>
          <a:p>
            <a:r>
              <a:rPr lang="es-ES" dirty="0"/>
              <a:t>Repasamos declaración, comparación, </a:t>
            </a:r>
            <a:r>
              <a:rPr lang="es-ES" dirty="0" err="1"/>
              <a:t>ifs</a:t>
            </a:r>
            <a:r>
              <a:rPr lang="es-ES" dirty="0"/>
              <a:t>, funciones, bucles, arrays y objetos</a:t>
            </a:r>
            <a:endParaRPr lang="es-AR" dirty="0"/>
          </a:p>
        </p:txBody>
      </p:sp>
      <p:pic>
        <p:nvPicPr>
          <p:cNvPr id="5" name="Picture 4" descr="Persona escribiendo en un bloc de notas">
            <a:extLst>
              <a:ext uri="{FF2B5EF4-FFF2-40B4-BE49-F238E27FC236}">
                <a16:creationId xmlns:a16="http://schemas.microsoft.com/office/drawing/2014/main" id="{66C70686-1956-CCEB-2897-D822CB084BE6}"/>
              </a:ext>
            </a:extLst>
          </p:cNvPr>
          <p:cNvPicPr>
            <a:picLocks noChangeAspect="1"/>
          </p:cNvPicPr>
          <p:nvPr/>
        </p:nvPicPr>
        <p:blipFill>
          <a:blip r:embed="rId2"/>
          <a:srcRect l="26800" r="19416"/>
          <a:stretch/>
        </p:blipFill>
        <p:spPr>
          <a:xfrm>
            <a:off x="20" y="10"/>
            <a:ext cx="4654277" cy="6857990"/>
          </a:xfrm>
          <a:prstGeom prst="rect">
            <a:avLst/>
          </a:prstGeom>
        </p:spPr>
      </p:pic>
    </p:spTree>
    <p:extLst>
      <p:ext uri="{BB962C8B-B14F-4D97-AF65-F5344CB8AC3E}">
        <p14:creationId xmlns:p14="http://schemas.microsoft.com/office/powerpoint/2010/main" val="528253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B3310C-5835-2CEB-0751-10527F143DC4}"/>
              </a:ext>
            </a:extLst>
          </p:cNvPr>
          <p:cNvSpPr>
            <a:spLocks noGrp="1"/>
          </p:cNvSpPr>
          <p:nvPr>
            <p:ph type="ctrTitle"/>
          </p:nvPr>
        </p:nvSpPr>
        <p:spPr/>
        <p:txBody>
          <a:bodyPr/>
          <a:lstStyle/>
          <a:p>
            <a:r>
              <a:rPr lang="es-ES" dirty="0"/>
              <a:t>Declaración de variables</a:t>
            </a:r>
            <a:endParaRPr lang="es-AR" dirty="0"/>
          </a:p>
        </p:txBody>
      </p:sp>
      <p:sp>
        <p:nvSpPr>
          <p:cNvPr id="3" name="Subtítulo 2">
            <a:extLst>
              <a:ext uri="{FF2B5EF4-FFF2-40B4-BE49-F238E27FC236}">
                <a16:creationId xmlns:a16="http://schemas.microsoft.com/office/drawing/2014/main" id="{8180CE46-FAFB-5747-8632-63523A65E998}"/>
              </a:ext>
            </a:extLst>
          </p:cNvPr>
          <p:cNvSpPr>
            <a:spLocks noGrp="1"/>
          </p:cNvSpPr>
          <p:nvPr>
            <p:ph type="subTitle" idx="1"/>
          </p:nvPr>
        </p:nvSpPr>
        <p:spPr/>
        <p:txBody>
          <a:bodyPr/>
          <a:lstStyle/>
          <a:p>
            <a:r>
              <a:rPr lang="es-ES" dirty="0"/>
              <a:t>¿Dónde almaceno los datos?</a:t>
            </a:r>
            <a:endParaRPr lang="es-AR" dirty="0"/>
          </a:p>
        </p:txBody>
      </p:sp>
    </p:spTree>
    <p:extLst>
      <p:ext uri="{BB962C8B-B14F-4D97-AF65-F5344CB8AC3E}">
        <p14:creationId xmlns:p14="http://schemas.microsoft.com/office/powerpoint/2010/main" val="2578695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364C6EE-C792-DD53-F3B1-03C8B25F67C5}"/>
              </a:ext>
            </a:extLst>
          </p:cNvPr>
          <p:cNvSpPr>
            <a:spLocks noGrp="1"/>
          </p:cNvSpPr>
          <p:nvPr>
            <p:ph type="body" idx="1"/>
          </p:nvPr>
        </p:nvSpPr>
        <p:spPr/>
        <p:txBody>
          <a:bodyPr/>
          <a:lstStyle/>
          <a:p>
            <a:r>
              <a:rPr lang="es-ES" dirty="0"/>
              <a:t>Operador let</a:t>
            </a:r>
            <a:endParaRPr lang="es-AR" dirty="0"/>
          </a:p>
        </p:txBody>
      </p:sp>
      <p:sp>
        <p:nvSpPr>
          <p:cNvPr id="3" name="Marcador de contenido 2">
            <a:extLst>
              <a:ext uri="{FF2B5EF4-FFF2-40B4-BE49-F238E27FC236}">
                <a16:creationId xmlns:a16="http://schemas.microsoft.com/office/drawing/2014/main" id="{2A659ADC-235C-F279-FCCF-1807980153AD}"/>
              </a:ext>
            </a:extLst>
          </p:cNvPr>
          <p:cNvSpPr>
            <a:spLocks noGrp="1"/>
          </p:cNvSpPr>
          <p:nvPr>
            <p:ph sz="half" idx="2"/>
          </p:nvPr>
        </p:nvSpPr>
        <p:spPr/>
        <p:txBody>
          <a:bodyPr/>
          <a:lstStyle/>
          <a:p>
            <a:r>
              <a:rPr lang="es-ES" dirty="0"/>
              <a:t>Nos permite declarar variables dinámicas cuyo valor puede cambiar a lo largo del tiempo</a:t>
            </a:r>
          </a:p>
          <a:p>
            <a:r>
              <a:rPr lang="es-ES" dirty="0"/>
              <a:t>Puede o no tener un valor inicial. En caso de no tenerlo, el valor almacenado será </a:t>
            </a:r>
            <a:r>
              <a:rPr lang="es-ES" i="1" dirty="0"/>
              <a:t>Undefined</a:t>
            </a:r>
            <a:endParaRPr lang="es-AR" dirty="0"/>
          </a:p>
        </p:txBody>
      </p:sp>
      <p:sp>
        <p:nvSpPr>
          <p:cNvPr id="4" name="Marcador de contenido 3">
            <a:extLst>
              <a:ext uri="{FF2B5EF4-FFF2-40B4-BE49-F238E27FC236}">
                <a16:creationId xmlns:a16="http://schemas.microsoft.com/office/drawing/2014/main" id="{5DCB6C35-2957-E0C7-B187-A71E3E79C182}"/>
              </a:ext>
            </a:extLst>
          </p:cNvPr>
          <p:cNvSpPr>
            <a:spLocks noGrp="1"/>
          </p:cNvSpPr>
          <p:nvPr>
            <p:ph sz="quarter" idx="4"/>
          </p:nvPr>
        </p:nvSpPr>
        <p:spPr/>
        <p:txBody>
          <a:bodyPr/>
          <a:lstStyle/>
          <a:p>
            <a:r>
              <a:rPr lang="es-ES" dirty="0"/>
              <a:t>Nos permite declarar variables constantes cuyo valor no puede cambiar a lo largo del tiempo</a:t>
            </a:r>
          </a:p>
          <a:p>
            <a:r>
              <a:rPr lang="es-ES" b="1" u="sng" dirty="0"/>
              <a:t>Siempre</a:t>
            </a:r>
            <a:r>
              <a:rPr lang="es-ES" dirty="0"/>
              <a:t> debe declararse con un valor inicial. En caso de no hacerlo, el programa dará un error.</a:t>
            </a:r>
            <a:endParaRPr lang="es-AR" b="1" u="sng" dirty="0"/>
          </a:p>
        </p:txBody>
      </p:sp>
      <p:sp>
        <p:nvSpPr>
          <p:cNvPr id="5" name="Marcador de texto 4">
            <a:extLst>
              <a:ext uri="{FF2B5EF4-FFF2-40B4-BE49-F238E27FC236}">
                <a16:creationId xmlns:a16="http://schemas.microsoft.com/office/drawing/2014/main" id="{B7EC5F19-0196-259B-0266-056089DA14F5}"/>
              </a:ext>
            </a:extLst>
          </p:cNvPr>
          <p:cNvSpPr>
            <a:spLocks noGrp="1"/>
          </p:cNvSpPr>
          <p:nvPr>
            <p:ph type="body" sz="quarter" idx="13"/>
          </p:nvPr>
        </p:nvSpPr>
        <p:spPr/>
        <p:txBody>
          <a:bodyPr/>
          <a:lstStyle/>
          <a:p>
            <a:r>
              <a:rPr lang="es-ES" dirty="0"/>
              <a:t>Operador const</a:t>
            </a:r>
            <a:endParaRPr lang="es-AR" dirty="0"/>
          </a:p>
        </p:txBody>
      </p:sp>
      <p:sp>
        <p:nvSpPr>
          <p:cNvPr id="6" name="Título 5">
            <a:extLst>
              <a:ext uri="{FF2B5EF4-FFF2-40B4-BE49-F238E27FC236}">
                <a16:creationId xmlns:a16="http://schemas.microsoft.com/office/drawing/2014/main" id="{38896684-F553-1882-DF2D-A64429AD9A1E}"/>
              </a:ext>
            </a:extLst>
          </p:cNvPr>
          <p:cNvSpPr>
            <a:spLocks noGrp="1"/>
          </p:cNvSpPr>
          <p:nvPr>
            <p:ph type="title"/>
          </p:nvPr>
        </p:nvSpPr>
        <p:spPr/>
        <p:txBody>
          <a:bodyPr/>
          <a:lstStyle/>
          <a:p>
            <a:r>
              <a:rPr lang="es-ES" dirty="0"/>
              <a:t>Operadores de declaración</a:t>
            </a:r>
            <a:endParaRPr lang="es-AR" dirty="0"/>
          </a:p>
        </p:txBody>
      </p:sp>
      <p:pic>
        <p:nvPicPr>
          <p:cNvPr id="8" name="Imagen 7">
            <a:extLst>
              <a:ext uri="{FF2B5EF4-FFF2-40B4-BE49-F238E27FC236}">
                <a16:creationId xmlns:a16="http://schemas.microsoft.com/office/drawing/2014/main" id="{5040AD23-B9D2-D1C7-C339-7E2BFA5C84D9}"/>
              </a:ext>
            </a:extLst>
          </p:cNvPr>
          <p:cNvPicPr>
            <a:picLocks noChangeAspect="1"/>
          </p:cNvPicPr>
          <p:nvPr/>
        </p:nvPicPr>
        <p:blipFill>
          <a:blip r:embed="rId2"/>
          <a:stretch>
            <a:fillRect/>
          </a:stretch>
        </p:blipFill>
        <p:spPr>
          <a:xfrm>
            <a:off x="2197140" y="5158471"/>
            <a:ext cx="3042840" cy="1469671"/>
          </a:xfrm>
          <a:prstGeom prst="rect">
            <a:avLst/>
          </a:prstGeom>
          <a:ln>
            <a:noFill/>
          </a:ln>
          <a:effectLst>
            <a:outerShdw blurRad="292100" dist="139700" dir="2700000" algn="tl" rotWithShape="0">
              <a:srgbClr val="333333">
                <a:alpha val="65000"/>
              </a:srgbClr>
            </a:outerShdw>
          </a:effectLst>
        </p:spPr>
      </p:pic>
      <p:pic>
        <p:nvPicPr>
          <p:cNvPr id="10" name="Imagen 9">
            <a:extLst>
              <a:ext uri="{FF2B5EF4-FFF2-40B4-BE49-F238E27FC236}">
                <a16:creationId xmlns:a16="http://schemas.microsoft.com/office/drawing/2014/main" id="{D80E7262-CBC1-1961-A9E7-5A01C701D406}"/>
              </a:ext>
            </a:extLst>
          </p:cNvPr>
          <p:cNvPicPr>
            <a:picLocks noChangeAspect="1"/>
          </p:cNvPicPr>
          <p:nvPr/>
        </p:nvPicPr>
        <p:blipFill>
          <a:blip r:embed="rId3"/>
          <a:stretch>
            <a:fillRect/>
          </a:stretch>
        </p:blipFill>
        <p:spPr>
          <a:xfrm>
            <a:off x="6338316" y="5158471"/>
            <a:ext cx="4564146" cy="146967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04178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B02301-E89C-7A44-FBE8-066C0E53B85D}"/>
              </a:ext>
            </a:extLst>
          </p:cNvPr>
          <p:cNvSpPr>
            <a:spLocks noGrp="1"/>
          </p:cNvSpPr>
          <p:nvPr>
            <p:ph type="title"/>
          </p:nvPr>
        </p:nvSpPr>
        <p:spPr>
          <a:xfrm>
            <a:off x="2231136" y="964692"/>
            <a:ext cx="7729728" cy="1188720"/>
          </a:xfrm>
        </p:spPr>
        <p:txBody>
          <a:bodyPr>
            <a:normAutofit/>
          </a:bodyPr>
          <a:lstStyle/>
          <a:p>
            <a:r>
              <a:rPr lang="es-ES" dirty="0" err="1"/>
              <a:t>Scope</a:t>
            </a:r>
            <a:r>
              <a:rPr lang="es-ES" dirty="0"/>
              <a:t> (alcance) de las variables</a:t>
            </a:r>
            <a:endParaRPr lang="es-AR" dirty="0"/>
          </a:p>
        </p:txBody>
      </p:sp>
      <p:sp>
        <p:nvSpPr>
          <p:cNvPr id="3" name="Marcador de contenido 2">
            <a:extLst>
              <a:ext uri="{FF2B5EF4-FFF2-40B4-BE49-F238E27FC236}">
                <a16:creationId xmlns:a16="http://schemas.microsoft.com/office/drawing/2014/main" id="{DE035F2D-8FD0-640F-BAD0-376CF063030A}"/>
              </a:ext>
            </a:extLst>
          </p:cNvPr>
          <p:cNvSpPr>
            <a:spLocks noGrp="1"/>
          </p:cNvSpPr>
          <p:nvPr>
            <p:ph idx="1"/>
          </p:nvPr>
        </p:nvSpPr>
        <p:spPr>
          <a:xfrm>
            <a:off x="2221992" y="2638044"/>
            <a:ext cx="3631692" cy="3662272"/>
          </a:xfrm>
        </p:spPr>
        <p:txBody>
          <a:bodyPr>
            <a:normAutofit fontScale="92500"/>
          </a:bodyPr>
          <a:lstStyle/>
          <a:p>
            <a:pPr>
              <a:lnSpc>
                <a:spcPct val="90000"/>
              </a:lnSpc>
            </a:pPr>
            <a:r>
              <a:rPr lang="es-ES" dirty="0"/>
              <a:t>Por lo general, varias de nuestras estructuras en JavaScript conllevan código que se da entre llaves. Este código entre llaves lo llamamos “bloque”</a:t>
            </a:r>
          </a:p>
          <a:p>
            <a:pPr>
              <a:lnSpc>
                <a:spcPct val="90000"/>
              </a:lnSpc>
            </a:pPr>
            <a:r>
              <a:rPr lang="es-ES" dirty="0"/>
              <a:t>Nosotros decimos que nuestras variables tienen alcance de “bloque” porque, si son declaradas dentro de uno, no podrán salir nunca y se eliminarán de la memoria una vez se llegue al final del bloque.</a:t>
            </a:r>
          </a:p>
          <a:p>
            <a:pPr>
              <a:lnSpc>
                <a:spcPct val="90000"/>
              </a:lnSpc>
            </a:pPr>
            <a:r>
              <a:rPr lang="es-AR" dirty="0"/>
              <a:t>Sin embargo, las variables sí podrán ser manipuladas dentro del bloque si fueron declaradas fuera de él.</a:t>
            </a:r>
          </a:p>
        </p:txBody>
      </p:sp>
      <p:pic>
        <p:nvPicPr>
          <p:cNvPr id="5" name="Imagen 4">
            <a:extLst>
              <a:ext uri="{FF2B5EF4-FFF2-40B4-BE49-F238E27FC236}">
                <a16:creationId xmlns:a16="http://schemas.microsoft.com/office/drawing/2014/main" id="{68E43E76-ECE8-DF0E-A23A-7FA080821753}"/>
              </a:ext>
            </a:extLst>
          </p:cNvPr>
          <p:cNvPicPr>
            <a:picLocks noChangeAspect="1"/>
          </p:cNvPicPr>
          <p:nvPr/>
        </p:nvPicPr>
        <p:blipFill>
          <a:blip r:embed="rId2"/>
          <a:stretch>
            <a:fillRect/>
          </a:stretch>
        </p:blipFill>
        <p:spPr>
          <a:xfrm>
            <a:off x="6207687" y="3002586"/>
            <a:ext cx="3613403" cy="289072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72640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419501C6-F015-4273-AF88-E0F6C8538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CA677DB7-5829-45BD-9754-5EC484CC42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B37D0C3-4C64-5300-0225-579EC03393A2}"/>
              </a:ext>
            </a:extLst>
          </p:cNvPr>
          <p:cNvSpPr>
            <a:spLocks noGrp="1"/>
          </p:cNvSpPr>
          <p:nvPr>
            <p:ph type="title"/>
          </p:nvPr>
        </p:nvSpPr>
        <p:spPr>
          <a:xfrm>
            <a:off x="804672" y="2404872"/>
            <a:ext cx="3044950" cy="1627792"/>
          </a:xfrm>
        </p:spPr>
        <p:txBody>
          <a:bodyPr vert="horz" lIns="274320" tIns="182880" rIns="274320" bIns="182880" rtlCol="0" anchor="ctr" anchorCtr="1">
            <a:normAutofit/>
          </a:bodyPr>
          <a:lstStyle/>
          <a:p>
            <a:r>
              <a:rPr lang="en-US" sz="2800"/>
              <a:t>¿Qué es un if?</a:t>
            </a:r>
          </a:p>
        </p:txBody>
      </p:sp>
      <p:sp>
        <p:nvSpPr>
          <p:cNvPr id="3" name="Marcador de texto 2">
            <a:extLst>
              <a:ext uri="{FF2B5EF4-FFF2-40B4-BE49-F238E27FC236}">
                <a16:creationId xmlns:a16="http://schemas.microsoft.com/office/drawing/2014/main" id="{66506517-7ED0-A633-2809-E59B91F7DB0F}"/>
              </a:ext>
            </a:extLst>
          </p:cNvPr>
          <p:cNvSpPr>
            <a:spLocks noGrp="1"/>
          </p:cNvSpPr>
          <p:nvPr>
            <p:ph type="body" idx="1"/>
          </p:nvPr>
        </p:nvSpPr>
        <p:spPr>
          <a:xfrm>
            <a:off x="1121822" y="4352544"/>
            <a:ext cx="2410650" cy="1239894"/>
          </a:xfrm>
        </p:spPr>
        <p:txBody>
          <a:bodyPr vert="horz" lIns="91440" tIns="45720" rIns="91440" bIns="45720" rtlCol="0">
            <a:normAutofit/>
          </a:bodyPr>
          <a:lstStyle/>
          <a:p>
            <a:pPr algn="ctr"/>
            <a:r>
              <a:rPr lang="en-US" sz="1800" kern="1200">
                <a:solidFill>
                  <a:srgbClr val="FFFFFF"/>
                </a:solidFill>
                <a:latin typeface="+mn-lt"/>
                <a:ea typeface="+mn-ea"/>
                <a:cs typeface="+mn-cs"/>
              </a:rPr>
              <a:t>Explicación teórica del If y las condiciones definidas con truthys, falsys y comparadores</a:t>
            </a:r>
          </a:p>
        </p:txBody>
      </p:sp>
      <p:pic>
        <p:nvPicPr>
          <p:cNvPr id="1026" name="Picture 2" descr="C - if Statement - GeeksforGeeks">
            <a:extLst>
              <a:ext uri="{FF2B5EF4-FFF2-40B4-BE49-F238E27FC236}">
                <a16:creationId xmlns:a16="http://schemas.microsoft.com/office/drawing/2014/main" id="{54093BA4-F021-162C-EC1E-B619AAF4D7D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10002" y="640080"/>
            <a:ext cx="5026292" cy="5263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08020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7894" y="1443035"/>
            <a:ext cx="3971932" cy="3971930"/>
          </a:xfrm>
          <a:prstGeom prst="ellipse">
            <a:avLst/>
          </a:prstGeom>
          <a:solidFill>
            <a:srgbClr val="FFFFFF"/>
          </a:solid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904D72D-32DF-2E85-B063-E5694DACF9A0}"/>
              </a:ext>
            </a:extLst>
          </p:cNvPr>
          <p:cNvSpPr>
            <a:spLocks noGrp="1"/>
          </p:cNvSpPr>
          <p:nvPr>
            <p:ph type="title"/>
          </p:nvPr>
        </p:nvSpPr>
        <p:spPr>
          <a:xfrm>
            <a:off x="1121344" y="1586484"/>
            <a:ext cx="3685032" cy="3685032"/>
          </a:xfrm>
          <a:prstGeom prst="ellipse">
            <a:avLst/>
          </a:prstGeom>
          <a:solidFill>
            <a:schemeClr val="accent2"/>
          </a:solidFill>
          <a:ln>
            <a:noFill/>
          </a:ln>
        </p:spPr>
        <p:txBody>
          <a:bodyPr>
            <a:normAutofit/>
          </a:bodyPr>
          <a:lstStyle/>
          <a:p>
            <a:r>
              <a:rPr lang="es-ES" sz="3000" dirty="0">
                <a:solidFill>
                  <a:srgbClr val="FFFFFF"/>
                </a:solidFill>
              </a:rPr>
              <a:t>If</a:t>
            </a:r>
            <a:endParaRPr lang="es-AR" sz="3000" dirty="0">
              <a:solidFill>
                <a:srgbClr val="FFFFFF"/>
              </a:solidFill>
            </a:endParaRPr>
          </a:p>
        </p:txBody>
      </p:sp>
      <p:sp>
        <p:nvSpPr>
          <p:cNvPr id="10" name="Rectangle 9">
            <a:extLst>
              <a:ext uri="{FF2B5EF4-FFF2-40B4-BE49-F238E27FC236}">
                <a16:creationId xmlns:a16="http://schemas.microsoft.com/office/drawing/2014/main" id="{5E5436DB-4E8B-43A5-AE55-1C527B62E2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18743" y="797433"/>
            <a:ext cx="5934456" cy="5263134"/>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83335" y="960120"/>
            <a:ext cx="5605272" cy="493776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Marcador de contenido 2">
            <a:extLst>
              <a:ext uri="{FF2B5EF4-FFF2-40B4-BE49-F238E27FC236}">
                <a16:creationId xmlns:a16="http://schemas.microsoft.com/office/drawing/2014/main" id="{F263BFF3-8AEC-F2D9-BA7E-7B050787E835}"/>
              </a:ext>
            </a:extLst>
          </p:cNvPr>
          <p:cNvSpPr>
            <a:spLocks noGrp="1"/>
          </p:cNvSpPr>
          <p:nvPr>
            <p:ph idx="1"/>
          </p:nvPr>
        </p:nvSpPr>
        <p:spPr>
          <a:xfrm>
            <a:off x="6259551" y="1444752"/>
            <a:ext cx="4652840" cy="3968496"/>
          </a:xfrm>
        </p:spPr>
        <p:txBody>
          <a:bodyPr anchor="ctr">
            <a:normAutofit/>
          </a:bodyPr>
          <a:lstStyle/>
          <a:p>
            <a:r>
              <a:rPr lang="es-ES" dirty="0">
                <a:solidFill>
                  <a:srgbClr val="404040"/>
                </a:solidFill>
              </a:rPr>
              <a:t>Un if es una instrucción en programación que sirve para tomar decisiones.</a:t>
            </a:r>
          </a:p>
          <a:p>
            <a:r>
              <a:rPr lang="es-ES" dirty="0">
                <a:solidFill>
                  <a:srgbClr val="404040"/>
                </a:solidFill>
              </a:rPr>
              <a:t> Funciona como una pregunta que le hacemos a la computadora: "¿Esto es cierto o no?". </a:t>
            </a:r>
          </a:p>
          <a:p>
            <a:r>
              <a:rPr lang="es-ES" dirty="0">
                <a:solidFill>
                  <a:srgbClr val="404040"/>
                </a:solidFill>
              </a:rPr>
              <a:t>Si la respuesta es sí, la computadora ejecuta cierto código. </a:t>
            </a:r>
          </a:p>
          <a:p>
            <a:r>
              <a:rPr lang="es-ES" dirty="0">
                <a:solidFill>
                  <a:srgbClr val="404040"/>
                </a:solidFill>
              </a:rPr>
              <a:t>Si la respuesta es no, ignora ese código o puede ejecutar una alternativa (else).</a:t>
            </a:r>
          </a:p>
          <a:p>
            <a:r>
              <a:rPr lang="es-ES" dirty="0">
                <a:solidFill>
                  <a:srgbClr val="404040"/>
                </a:solidFill>
              </a:rPr>
              <a:t>El if se usa para que el programa haga algo sólo si se cumple cierta </a:t>
            </a:r>
            <a:r>
              <a:rPr lang="es-ES" b="1" dirty="0">
                <a:solidFill>
                  <a:srgbClr val="404040"/>
                </a:solidFill>
              </a:rPr>
              <a:t>condición</a:t>
            </a:r>
            <a:endParaRPr lang="es-AR" dirty="0">
              <a:solidFill>
                <a:srgbClr val="404040"/>
              </a:solidFill>
            </a:endParaRPr>
          </a:p>
        </p:txBody>
      </p:sp>
    </p:spTree>
    <p:extLst>
      <p:ext uri="{BB962C8B-B14F-4D97-AF65-F5344CB8AC3E}">
        <p14:creationId xmlns:p14="http://schemas.microsoft.com/office/powerpoint/2010/main" val="2190461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ED03601-4724-4293-A32A-3A0879C5D4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E433AC3-E189-483B-9E8C-DFD5D2A186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18509"/>
            <a:ext cx="12192000" cy="19394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25BB061-695D-9DD9-FA12-22026415711D}"/>
              </a:ext>
            </a:extLst>
          </p:cNvPr>
          <p:cNvSpPr>
            <a:spLocks noGrp="1"/>
          </p:cNvSpPr>
          <p:nvPr>
            <p:ph type="title"/>
          </p:nvPr>
        </p:nvSpPr>
        <p:spPr>
          <a:xfrm>
            <a:off x="1600200" y="4269282"/>
            <a:ext cx="8991600" cy="1264762"/>
          </a:xfrm>
        </p:spPr>
        <p:txBody>
          <a:bodyPr vert="horz" lIns="274320" tIns="182880" rIns="274320" bIns="182880" rtlCol="0" anchor="ctr" anchorCtr="1">
            <a:normAutofit/>
          </a:bodyPr>
          <a:lstStyle/>
          <a:p>
            <a:r>
              <a:rPr lang="en-US" sz="3200" dirty="0"/>
              <a:t>Sintaxis de un if</a:t>
            </a:r>
          </a:p>
        </p:txBody>
      </p:sp>
      <p:pic>
        <p:nvPicPr>
          <p:cNvPr id="5" name="Imagen 4">
            <a:extLst>
              <a:ext uri="{FF2B5EF4-FFF2-40B4-BE49-F238E27FC236}">
                <a16:creationId xmlns:a16="http://schemas.microsoft.com/office/drawing/2014/main" id="{0817058A-E3FC-69D2-E59E-99E754E40D90}"/>
              </a:ext>
            </a:extLst>
          </p:cNvPr>
          <p:cNvPicPr>
            <a:picLocks noChangeAspect="1"/>
          </p:cNvPicPr>
          <p:nvPr/>
        </p:nvPicPr>
        <p:blipFill>
          <a:blip r:embed="rId2"/>
          <a:stretch>
            <a:fillRect/>
          </a:stretch>
        </p:blipFill>
        <p:spPr>
          <a:xfrm>
            <a:off x="2940338" y="640078"/>
            <a:ext cx="6311323" cy="330130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13723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31C0DC5-F276-3870-D100-D049B2D64172}"/>
              </a:ext>
            </a:extLst>
          </p:cNvPr>
          <p:cNvSpPr>
            <a:spLocks noGrp="1"/>
          </p:cNvSpPr>
          <p:nvPr>
            <p:ph type="title"/>
          </p:nvPr>
        </p:nvSpPr>
        <p:spPr>
          <a:xfrm>
            <a:off x="2231136" y="467418"/>
            <a:ext cx="7729728" cy="1188720"/>
          </a:xfrm>
          <a:solidFill>
            <a:srgbClr val="FFFFFF"/>
          </a:solidFill>
        </p:spPr>
        <p:txBody>
          <a:bodyPr>
            <a:normAutofit/>
          </a:bodyPr>
          <a:lstStyle/>
          <a:p>
            <a:r>
              <a:rPr lang="es-ES"/>
              <a:t>¿Cómo defino una </a:t>
            </a:r>
            <a:r>
              <a:rPr lang="es-ES" b="1"/>
              <a:t>condición</a:t>
            </a:r>
            <a:r>
              <a:rPr lang="es-ES"/>
              <a:t>?</a:t>
            </a:r>
            <a:endParaRPr lang="es-AR" dirty="0"/>
          </a:p>
        </p:txBody>
      </p:sp>
      <p:sp>
        <p:nvSpPr>
          <p:cNvPr id="13" name="Marcador de contenido 2">
            <a:extLst>
              <a:ext uri="{FF2B5EF4-FFF2-40B4-BE49-F238E27FC236}">
                <a16:creationId xmlns:a16="http://schemas.microsoft.com/office/drawing/2014/main" id="{7E93E26F-5752-0371-FA2D-704D5E24FA8E}"/>
              </a:ext>
            </a:extLst>
          </p:cNvPr>
          <p:cNvSpPr>
            <a:spLocks noGrp="1"/>
          </p:cNvSpPr>
          <p:nvPr>
            <p:ph idx="1"/>
          </p:nvPr>
        </p:nvSpPr>
        <p:spPr>
          <a:xfrm>
            <a:off x="1706062" y="2291262"/>
            <a:ext cx="8779512" cy="2879256"/>
          </a:xfrm>
        </p:spPr>
        <p:txBody>
          <a:bodyPr>
            <a:normAutofit/>
          </a:bodyPr>
          <a:lstStyle/>
          <a:p>
            <a:r>
              <a:rPr lang="es-ES" dirty="0">
                <a:solidFill>
                  <a:srgbClr val="404040"/>
                </a:solidFill>
              </a:rPr>
              <a:t>Cuando escribimos una condición dentro de un if, la computadora evalúa si la condición es verdadera o falsa. </a:t>
            </a:r>
          </a:p>
          <a:p>
            <a:r>
              <a:rPr lang="es-ES" dirty="0">
                <a:solidFill>
                  <a:srgbClr val="404040"/>
                </a:solidFill>
              </a:rPr>
              <a:t>Para eso, hay dos conceptos importantes en JavaScript:</a:t>
            </a:r>
          </a:p>
          <a:p>
            <a:pPr lvl="1"/>
            <a:r>
              <a:rPr lang="es-ES" dirty="0">
                <a:solidFill>
                  <a:srgbClr val="404040"/>
                </a:solidFill>
              </a:rPr>
              <a:t>Los valores </a:t>
            </a:r>
            <a:r>
              <a:rPr lang="es-ES" b="1" dirty="0">
                <a:solidFill>
                  <a:srgbClr val="404040"/>
                </a:solidFill>
              </a:rPr>
              <a:t>Truthy </a:t>
            </a:r>
            <a:r>
              <a:rPr lang="es-ES" sz="1200" i="1" dirty="0">
                <a:solidFill>
                  <a:srgbClr val="404040"/>
                </a:solidFill>
              </a:rPr>
              <a:t>La condición se cumple (“Verdadera”)</a:t>
            </a:r>
            <a:endParaRPr lang="es-ES" b="1" dirty="0">
              <a:solidFill>
                <a:srgbClr val="404040"/>
              </a:solidFill>
            </a:endParaRPr>
          </a:p>
          <a:p>
            <a:pPr lvl="1"/>
            <a:r>
              <a:rPr lang="es-ES" dirty="0">
                <a:solidFill>
                  <a:srgbClr val="404040"/>
                </a:solidFill>
              </a:rPr>
              <a:t>Los valores </a:t>
            </a:r>
            <a:r>
              <a:rPr lang="es-ES" b="1" dirty="0">
                <a:solidFill>
                  <a:srgbClr val="404040"/>
                </a:solidFill>
              </a:rPr>
              <a:t>Falsy </a:t>
            </a:r>
            <a:r>
              <a:rPr lang="es-ES" sz="1200" i="1" dirty="0">
                <a:solidFill>
                  <a:srgbClr val="404040"/>
                </a:solidFill>
              </a:rPr>
              <a:t>La condición no se cumple (“Falsa”)</a:t>
            </a:r>
          </a:p>
          <a:p>
            <a:r>
              <a:rPr lang="es-ES" dirty="0">
                <a:solidFill>
                  <a:srgbClr val="404040"/>
                </a:solidFill>
              </a:rPr>
              <a:t>La condición es quien va entre paréntesis en el if</a:t>
            </a:r>
            <a:endParaRPr lang="es-ES" sz="1400" dirty="0">
              <a:solidFill>
                <a:srgbClr val="404040"/>
              </a:solidFill>
            </a:endParaRPr>
          </a:p>
        </p:txBody>
      </p:sp>
    </p:spTree>
    <p:extLst>
      <p:ext uri="{BB962C8B-B14F-4D97-AF65-F5344CB8AC3E}">
        <p14:creationId xmlns:p14="http://schemas.microsoft.com/office/powerpoint/2010/main" val="2809798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031D2C-369F-A971-06D2-3747461F548B}"/>
              </a:ext>
            </a:extLst>
          </p:cNvPr>
          <p:cNvSpPr>
            <a:spLocks noGrp="1"/>
          </p:cNvSpPr>
          <p:nvPr>
            <p:ph type="title"/>
          </p:nvPr>
        </p:nvSpPr>
        <p:spPr/>
        <p:txBody>
          <a:bodyPr/>
          <a:lstStyle/>
          <a:p>
            <a:r>
              <a:rPr lang="es-ES" dirty="0"/>
              <a:t>¿Qué son los truthys y falsys?</a:t>
            </a:r>
            <a:endParaRPr lang="es-AR" dirty="0"/>
          </a:p>
        </p:txBody>
      </p:sp>
      <p:sp>
        <p:nvSpPr>
          <p:cNvPr id="3" name="Marcador de contenido 2">
            <a:extLst>
              <a:ext uri="{FF2B5EF4-FFF2-40B4-BE49-F238E27FC236}">
                <a16:creationId xmlns:a16="http://schemas.microsoft.com/office/drawing/2014/main" id="{613EB1AA-B97A-6FE0-0B91-FEC054B8453E}"/>
              </a:ext>
            </a:extLst>
          </p:cNvPr>
          <p:cNvSpPr>
            <a:spLocks noGrp="1"/>
          </p:cNvSpPr>
          <p:nvPr>
            <p:ph sz="half" idx="1"/>
          </p:nvPr>
        </p:nvSpPr>
        <p:spPr/>
        <p:txBody>
          <a:bodyPr>
            <a:normAutofit/>
          </a:bodyPr>
          <a:lstStyle/>
          <a:p>
            <a:pPr marL="0" indent="0">
              <a:buNone/>
            </a:pPr>
            <a:r>
              <a:rPr lang="es-ES" b="1" u="sng" dirty="0"/>
              <a:t>Valores Truthy.</a:t>
            </a:r>
            <a:r>
              <a:rPr lang="es-ES" dirty="0"/>
              <a:t> </a:t>
            </a:r>
          </a:p>
          <a:p>
            <a:r>
              <a:rPr lang="es-ES" dirty="0"/>
              <a:t>Cualquier valor que </a:t>
            </a:r>
            <a:r>
              <a:rPr lang="es-ES" b="1" u="sng" dirty="0"/>
              <a:t>no</a:t>
            </a:r>
            <a:r>
              <a:rPr lang="es-ES" dirty="0"/>
              <a:t> sea un falsy</a:t>
            </a:r>
          </a:p>
        </p:txBody>
      </p:sp>
      <p:sp>
        <p:nvSpPr>
          <p:cNvPr id="4" name="Marcador de contenido 3">
            <a:extLst>
              <a:ext uri="{FF2B5EF4-FFF2-40B4-BE49-F238E27FC236}">
                <a16:creationId xmlns:a16="http://schemas.microsoft.com/office/drawing/2014/main" id="{3F3A3273-A1A9-FC07-8BEB-252C22DB9046}"/>
              </a:ext>
            </a:extLst>
          </p:cNvPr>
          <p:cNvSpPr>
            <a:spLocks noGrp="1"/>
          </p:cNvSpPr>
          <p:nvPr>
            <p:ph sz="half" idx="2"/>
          </p:nvPr>
        </p:nvSpPr>
        <p:spPr/>
        <p:txBody>
          <a:bodyPr>
            <a:normAutofit/>
          </a:bodyPr>
          <a:lstStyle/>
          <a:p>
            <a:pPr marL="0" indent="0">
              <a:buNone/>
            </a:pPr>
            <a:r>
              <a:rPr lang="es-ES" b="1" u="sng" dirty="0"/>
              <a:t>Valores Falsy</a:t>
            </a:r>
          </a:p>
          <a:p>
            <a:pPr lvl="1"/>
            <a:r>
              <a:rPr lang="es-ES" b="1" i="1" dirty="0">
                <a:solidFill>
                  <a:srgbClr val="00B0F0"/>
                </a:solidFill>
              </a:rPr>
              <a:t>false</a:t>
            </a:r>
          </a:p>
          <a:p>
            <a:pPr lvl="1"/>
            <a:r>
              <a:rPr lang="es-ES" dirty="0"/>
              <a:t>El número 0 </a:t>
            </a:r>
          </a:p>
          <a:p>
            <a:pPr lvl="1"/>
            <a:r>
              <a:rPr lang="es-ES" dirty="0">
                <a:solidFill>
                  <a:schemeClr val="tx1"/>
                </a:solidFill>
              </a:rPr>
              <a:t>La cadena vacía</a:t>
            </a:r>
            <a:r>
              <a:rPr lang="es-ES" b="1" i="1" dirty="0">
                <a:solidFill>
                  <a:srgbClr val="FF0000"/>
                </a:solidFill>
              </a:rPr>
              <a:t> “</a:t>
            </a:r>
            <a:r>
              <a:rPr lang="es-ES" dirty="0">
                <a:solidFill>
                  <a:srgbClr val="FF0000"/>
                </a:solidFill>
              </a:rPr>
              <a:t> </a:t>
            </a:r>
            <a:r>
              <a:rPr lang="es-ES" b="1" i="1" dirty="0">
                <a:solidFill>
                  <a:srgbClr val="FF0000"/>
                </a:solidFill>
              </a:rPr>
              <a:t>”</a:t>
            </a:r>
            <a:r>
              <a:rPr lang="es-ES" dirty="0">
                <a:solidFill>
                  <a:srgbClr val="FF0000"/>
                </a:solidFill>
              </a:rPr>
              <a:t> </a:t>
            </a:r>
            <a:endParaRPr lang="es-ES" sz="1000" i="1" dirty="0">
              <a:solidFill>
                <a:schemeClr val="tx1"/>
              </a:solidFill>
            </a:endParaRPr>
          </a:p>
          <a:p>
            <a:pPr lvl="1"/>
            <a:r>
              <a:rPr lang="es-ES" b="1" i="1" dirty="0">
                <a:solidFill>
                  <a:srgbClr val="00B0F0"/>
                </a:solidFill>
              </a:rPr>
              <a:t>Null</a:t>
            </a:r>
          </a:p>
          <a:p>
            <a:pPr lvl="1"/>
            <a:r>
              <a:rPr lang="es-ES" b="1" i="1" dirty="0">
                <a:solidFill>
                  <a:srgbClr val="00B0F0"/>
                </a:solidFill>
              </a:rPr>
              <a:t>Undefined</a:t>
            </a:r>
          </a:p>
          <a:p>
            <a:pPr lvl="1"/>
            <a:r>
              <a:rPr lang="es-ES" b="1" i="1" dirty="0">
                <a:solidFill>
                  <a:srgbClr val="00B0F0"/>
                </a:solidFill>
              </a:rPr>
              <a:t>NaN</a:t>
            </a:r>
            <a:r>
              <a:rPr lang="es-ES" dirty="0"/>
              <a:t> </a:t>
            </a:r>
          </a:p>
          <a:p>
            <a:pPr marL="228600" lvl="1" indent="0">
              <a:buNone/>
            </a:pPr>
            <a:endParaRPr lang="es-ES" dirty="0"/>
          </a:p>
        </p:txBody>
      </p:sp>
    </p:spTree>
    <p:extLst>
      <p:ext uri="{BB962C8B-B14F-4D97-AF65-F5344CB8AC3E}">
        <p14:creationId xmlns:p14="http://schemas.microsoft.com/office/powerpoint/2010/main" val="3082267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B1EF37-E94D-A14E-4572-C7612D80E0A7}"/>
              </a:ext>
            </a:extLst>
          </p:cNvPr>
          <p:cNvSpPr>
            <a:spLocks noGrp="1"/>
          </p:cNvSpPr>
          <p:nvPr>
            <p:ph type="ctrTitle"/>
          </p:nvPr>
        </p:nvSpPr>
        <p:spPr/>
        <p:txBody>
          <a:bodyPr/>
          <a:lstStyle/>
          <a:p>
            <a:r>
              <a:rPr lang="es-ES" dirty="0"/>
              <a:t>Operadores de comparación</a:t>
            </a:r>
            <a:endParaRPr lang="es-AR" dirty="0"/>
          </a:p>
        </p:txBody>
      </p:sp>
      <p:sp>
        <p:nvSpPr>
          <p:cNvPr id="3" name="Subtítulo 2">
            <a:extLst>
              <a:ext uri="{FF2B5EF4-FFF2-40B4-BE49-F238E27FC236}">
                <a16:creationId xmlns:a16="http://schemas.microsoft.com/office/drawing/2014/main" id="{38E4BF4F-ED3E-D569-5F12-1499E61F479B}"/>
              </a:ext>
            </a:extLst>
          </p:cNvPr>
          <p:cNvSpPr>
            <a:spLocks noGrp="1"/>
          </p:cNvSpPr>
          <p:nvPr>
            <p:ph type="subTitle" idx="1"/>
          </p:nvPr>
        </p:nvSpPr>
        <p:spPr/>
        <p:txBody>
          <a:bodyPr/>
          <a:lstStyle/>
          <a:p>
            <a:r>
              <a:rPr lang="es-ES" dirty="0"/>
              <a:t>Son operadores que nos permiten armar condiciones “True” o “False” comparando dos valores.</a:t>
            </a:r>
            <a:endParaRPr lang="es-AR" dirty="0"/>
          </a:p>
        </p:txBody>
      </p:sp>
    </p:spTree>
    <p:extLst>
      <p:ext uri="{BB962C8B-B14F-4D97-AF65-F5344CB8AC3E}">
        <p14:creationId xmlns:p14="http://schemas.microsoft.com/office/powerpoint/2010/main" val="3060698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A75EA2-BAA1-CE87-AD8F-D3A9E3AD0CFC}"/>
              </a:ext>
            </a:extLst>
          </p:cNvPr>
          <p:cNvSpPr>
            <a:spLocks noGrp="1"/>
          </p:cNvSpPr>
          <p:nvPr>
            <p:ph type="title"/>
          </p:nvPr>
        </p:nvSpPr>
        <p:spPr>
          <a:xfrm>
            <a:off x="804672" y="978776"/>
            <a:ext cx="5925310" cy="1174991"/>
          </a:xfrm>
        </p:spPr>
        <p:txBody>
          <a:bodyPr>
            <a:normAutofit/>
          </a:bodyPr>
          <a:lstStyle/>
          <a:p>
            <a:r>
              <a:rPr lang="es-ES" sz="2400"/>
              <a:t>¿Qué es un operador comparador?</a:t>
            </a:r>
            <a:endParaRPr lang="es-AR" sz="2400"/>
          </a:p>
        </p:txBody>
      </p:sp>
      <p:sp>
        <p:nvSpPr>
          <p:cNvPr id="3" name="Marcador de contenido 2">
            <a:extLst>
              <a:ext uri="{FF2B5EF4-FFF2-40B4-BE49-F238E27FC236}">
                <a16:creationId xmlns:a16="http://schemas.microsoft.com/office/drawing/2014/main" id="{0157504C-1A65-6828-4B91-7816F201181E}"/>
              </a:ext>
            </a:extLst>
          </p:cNvPr>
          <p:cNvSpPr>
            <a:spLocks noGrp="1"/>
          </p:cNvSpPr>
          <p:nvPr>
            <p:ph idx="1"/>
          </p:nvPr>
        </p:nvSpPr>
        <p:spPr>
          <a:xfrm>
            <a:off x="804672" y="2640692"/>
            <a:ext cx="5925310" cy="3255252"/>
          </a:xfrm>
        </p:spPr>
        <p:txBody>
          <a:bodyPr>
            <a:normAutofit/>
          </a:bodyPr>
          <a:lstStyle/>
          <a:p>
            <a:r>
              <a:rPr lang="es-ES" dirty="0"/>
              <a:t>Los operadores de comparación permiten comparar dos valores y devuelven un resultado True o False.</a:t>
            </a:r>
          </a:p>
          <a:p>
            <a:r>
              <a:rPr lang="es-ES" dirty="0"/>
              <a:t>Por ejemplo, 5 &gt; 3 devuelve true porque 5 es mayor que 3.</a:t>
            </a:r>
          </a:p>
          <a:p>
            <a:r>
              <a:rPr lang="es-ES" dirty="0"/>
              <a:t>Todos los comparadores sólo comparan dos valores o variables</a:t>
            </a:r>
          </a:p>
          <a:p>
            <a:r>
              <a:rPr lang="es-ES" dirty="0"/>
              <a:t>Se puede usar un paréntesis para poner precedencias</a:t>
            </a:r>
            <a:endParaRPr lang="es-AR" dirty="0"/>
          </a:p>
        </p:txBody>
      </p:sp>
      <p:pic>
        <p:nvPicPr>
          <p:cNvPr id="7" name="Picture 4" descr="Una fórmula de cálculo">
            <a:extLst>
              <a:ext uri="{FF2B5EF4-FFF2-40B4-BE49-F238E27FC236}">
                <a16:creationId xmlns:a16="http://schemas.microsoft.com/office/drawing/2014/main" id="{D38FE813-FC63-6DBA-8C30-6BF37F040359}"/>
              </a:ext>
            </a:extLst>
          </p:cNvPr>
          <p:cNvPicPr>
            <a:picLocks noChangeAspect="1"/>
          </p:cNvPicPr>
          <p:nvPr/>
        </p:nvPicPr>
        <p:blipFill>
          <a:blip r:embed="rId2"/>
          <a:srcRect l="24313" r="30356" b="-1"/>
          <a:stretch/>
        </p:blipFill>
        <p:spPr>
          <a:xfrm>
            <a:off x="7534654" y="10"/>
            <a:ext cx="4657345" cy="6857990"/>
          </a:xfrm>
          <a:prstGeom prst="rect">
            <a:avLst/>
          </a:prstGeom>
        </p:spPr>
      </p:pic>
    </p:spTree>
    <p:extLst>
      <p:ext uri="{BB962C8B-B14F-4D97-AF65-F5344CB8AC3E}">
        <p14:creationId xmlns:p14="http://schemas.microsoft.com/office/powerpoint/2010/main" val="1183866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C7FF834-B204-4967-8D47-8BB36EAF0E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780A22D-61EA-43E3-BD94-3E39CF902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18509"/>
            <a:ext cx="12192000" cy="19394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B3B1A41-FC46-C568-DFD7-3C07D2CC937B}"/>
              </a:ext>
            </a:extLst>
          </p:cNvPr>
          <p:cNvSpPr>
            <a:spLocks noGrp="1"/>
          </p:cNvSpPr>
          <p:nvPr>
            <p:ph type="title"/>
          </p:nvPr>
        </p:nvSpPr>
        <p:spPr>
          <a:xfrm>
            <a:off x="1600200" y="4269282"/>
            <a:ext cx="8991600" cy="1264762"/>
          </a:xfrm>
        </p:spPr>
        <p:txBody>
          <a:bodyPr vert="horz" lIns="274320" tIns="182880" rIns="274320" bIns="182880" rtlCol="0" anchor="ctr" anchorCtr="1">
            <a:normAutofit/>
          </a:bodyPr>
          <a:lstStyle/>
          <a:p>
            <a:r>
              <a:rPr lang="en-US" sz="3200"/>
              <a:t>Tabla de operadores comparadores</a:t>
            </a:r>
          </a:p>
        </p:txBody>
      </p:sp>
      <p:pic>
        <p:nvPicPr>
          <p:cNvPr id="4" name="Imagen 3">
            <a:extLst>
              <a:ext uri="{FF2B5EF4-FFF2-40B4-BE49-F238E27FC236}">
                <a16:creationId xmlns:a16="http://schemas.microsoft.com/office/drawing/2014/main" id="{785476E4-40E0-1BB2-4305-1E680CB737C8}"/>
              </a:ext>
            </a:extLst>
          </p:cNvPr>
          <p:cNvPicPr>
            <a:picLocks noChangeAspect="1"/>
          </p:cNvPicPr>
          <p:nvPr/>
        </p:nvPicPr>
        <p:blipFill>
          <a:blip r:embed="rId2"/>
          <a:stretch>
            <a:fillRect/>
          </a:stretch>
        </p:blipFill>
        <p:spPr>
          <a:xfrm>
            <a:off x="2257271" y="640078"/>
            <a:ext cx="7677457" cy="3301307"/>
          </a:xfrm>
          <a:prstGeom prst="rect">
            <a:avLst/>
          </a:prstGeom>
          <a:ln>
            <a:noFill/>
          </a:ln>
          <a:effectLst>
            <a:outerShdw blurRad="292100" dist="139700" dir="2700000" algn="tl" rotWithShape="0">
              <a:srgbClr val="333333">
                <a:alpha val="65000"/>
              </a:srgbClr>
            </a:outerShdw>
          </a:effectLst>
        </p:spPr>
      </p:pic>
      <p:sp>
        <p:nvSpPr>
          <p:cNvPr id="5" name="Marcador de texto 2">
            <a:extLst>
              <a:ext uri="{FF2B5EF4-FFF2-40B4-BE49-F238E27FC236}">
                <a16:creationId xmlns:a16="http://schemas.microsoft.com/office/drawing/2014/main" id="{9178650E-0F23-FE19-12FE-ED941501BE52}"/>
              </a:ext>
            </a:extLst>
          </p:cNvPr>
          <p:cNvSpPr txBox="1">
            <a:spLocks/>
          </p:cNvSpPr>
          <p:nvPr/>
        </p:nvSpPr>
        <p:spPr>
          <a:xfrm>
            <a:off x="2695194" y="5622355"/>
            <a:ext cx="6801612" cy="1265082"/>
          </a:xfrm>
          <a:prstGeom prst="rect">
            <a:avLst/>
          </a:prstGeom>
        </p:spPr>
        <p:txBody>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algn="ctr"/>
            <a:r>
              <a:rPr lang="es-ES" dirty="0"/>
              <a:t>Nota: No hay que confundir el operador igualdad (==) con el operador asignación (=) que se usa para asignar un valor a una variable.</a:t>
            </a:r>
            <a:endParaRPr lang="es-AR" dirty="0"/>
          </a:p>
        </p:txBody>
      </p:sp>
    </p:spTree>
    <p:extLst>
      <p:ext uri="{BB962C8B-B14F-4D97-AF65-F5344CB8AC3E}">
        <p14:creationId xmlns:p14="http://schemas.microsoft.com/office/powerpoint/2010/main" val="766044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AD7C5BE-418C-4A44-91BF-28E411F75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120" y="1559052"/>
            <a:ext cx="10271760" cy="4347972"/>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23F57D1-6A64-B4C5-3B44-E6DEC7311C93}"/>
              </a:ext>
            </a:extLst>
          </p:cNvPr>
          <p:cNvSpPr>
            <a:spLocks noGrp="1"/>
          </p:cNvSpPr>
          <p:nvPr>
            <p:ph type="title"/>
          </p:nvPr>
        </p:nvSpPr>
        <p:spPr>
          <a:xfrm>
            <a:off x="2231136" y="964692"/>
            <a:ext cx="7729728" cy="1188720"/>
          </a:xfrm>
          <a:ln>
            <a:solidFill>
              <a:srgbClr val="404040"/>
            </a:solidFill>
          </a:ln>
        </p:spPr>
        <p:txBody>
          <a:bodyPr vert="horz" lIns="182880" tIns="182880" rIns="182880" bIns="182880" rtlCol="0" anchor="ctr">
            <a:normAutofit/>
          </a:bodyPr>
          <a:lstStyle/>
          <a:p>
            <a:r>
              <a:rPr lang="en-US" dirty="0"/>
              <a:t>¿Cómo puedo usar un if y un else?</a:t>
            </a:r>
          </a:p>
        </p:txBody>
      </p:sp>
      <p:pic>
        <p:nvPicPr>
          <p:cNvPr id="5" name="Imagen 4">
            <a:extLst>
              <a:ext uri="{FF2B5EF4-FFF2-40B4-BE49-F238E27FC236}">
                <a16:creationId xmlns:a16="http://schemas.microsoft.com/office/drawing/2014/main" id="{5A2E6031-83DA-5EB8-F039-649F532A4990}"/>
              </a:ext>
            </a:extLst>
          </p:cNvPr>
          <p:cNvPicPr>
            <a:picLocks noChangeAspect="1"/>
          </p:cNvPicPr>
          <p:nvPr/>
        </p:nvPicPr>
        <p:blipFill>
          <a:blip r:embed="rId2"/>
          <a:stretch>
            <a:fillRect/>
          </a:stretch>
        </p:blipFill>
        <p:spPr>
          <a:xfrm>
            <a:off x="3028459" y="2482596"/>
            <a:ext cx="6146755" cy="293065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78640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D31F45-BA39-7019-DCE0-EE52BE52E926}"/>
              </a:ext>
            </a:extLst>
          </p:cNvPr>
          <p:cNvSpPr>
            <a:spLocks noGrp="1"/>
          </p:cNvSpPr>
          <p:nvPr>
            <p:ph type="ctrTitle"/>
          </p:nvPr>
        </p:nvSpPr>
        <p:spPr>
          <a:xfrm>
            <a:off x="5458969" y="2386744"/>
            <a:ext cx="5928358" cy="1645920"/>
          </a:xfrm>
        </p:spPr>
        <p:txBody>
          <a:bodyPr>
            <a:normAutofit/>
          </a:bodyPr>
          <a:lstStyle/>
          <a:p>
            <a:r>
              <a:rPr lang="es-ES" dirty="0"/>
              <a:t>Funciones</a:t>
            </a:r>
            <a:endParaRPr lang="es-AR" dirty="0"/>
          </a:p>
        </p:txBody>
      </p:sp>
      <p:sp>
        <p:nvSpPr>
          <p:cNvPr id="3" name="Subtítulo 2">
            <a:extLst>
              <a:ext uri="{FF2B5EF4-FFF2-40B4-BE49-F238E27FC236}">
                <a16:creationId xmlns:a16="http://schemas.microsoft.com/office/drawing/2014/main" id="{3ED91719-2CC7-FE86-7586-8AC21D22778C}"/>
              </a:ext>
            </a:extLst>
          </p:cNvPr>
          <p:cNvSpPr>
            <a:spLocks noGrp="1"/>
          </p:cNvSpPr>
          <p:nvPr>
            <p:ph type="subTitle" idx="1"/>
          </p:nvPr>
        </p:nvSpPr>
        <p:spPr>
          <a:xfrm>
            <a:off x="5458969" y="4352543"/>
            <a:ext cx="5928358" cy="2068353"/>
          </a:xfrm>
        </p:spPr>
        <p:txBody>
          <a:bodyPr>
            <a:normAutofit/>
          </a:bodyPr>
          <a:lstStyle/>
          <a:p>
            <a:pPr>
              <a:lnSpc>
                <a:spcPct val="90000"/>
              </a:lnSpc>
            </a:pPr>
            <a:r>
              <a:rPr lang="es-ES" dirty="0"/>
              <a:t>¿Qué entendemos por una función en matemática?</a:t>
            </a:r>
          </a:p>
          <a:p>
            <a:pPr>
              <a:lnSpc>
                <a:spcPct val="90000"/>
              </a:lnSpc>
            </a:pPr>
            <a:r>
              <a:rPr lang="es-ES" dirty="0"/>
              <a:t>f(x) = x² + 2x + 2</a:t>
            </a:r>
          </a:p>
          <a:p>
            <a:pPr>
              <a:lnSpc>
                <a:spcPct val="90000"/>
              </a:lnSpc>
            </a:pPr>
            <a:r>
              <a:rPr lang="es-ES" dirty="0"/>
              <a:t>f(0) = 2</a:t>
            </a:r>
          </a:p>
          <a:p>
            <a:pPr>
              <a:lnSpc>
                <a:spcPct val="90000"/>
              </a:lnSpc>
            </a:pPr>
            <a:r>
              <a:rPr lang="es-AR" dirty="0"/>
              <a:t>f(2) = ?</a:t>
            </a:r>
          </a:p>
          <a:p>
            <a:pPr>
              <a:lnSpc>
                <a:spcPct val="90000"/>
              </a:lnSpc>
            </a:pPr>
            <a:endParaRPr lang="es-AR" sz="1300" dirty="0"/>
          </a:p>
        </p:txBody>
      </p:sp>
      <p:pic>
        <p:nvPicPr>
          <p:cNvPr id="5" name="Picture 4" descr="Una fórmula de cálculo">
            <a:extLst>
              <a:ext uri="{FF2B5EF4-FFF2-40B4-BE49-F238E27FC236}">
                <a16:creationId xmlns:a16="http://schemas.microsoft.com/office/drawing/2014/main" id="{DD6B45C6-24AA-1A37-CBE5-61CB9548A3D6}"/>
              </a:ext>
            </a:extLst>
          </p:cNvPr>
          <p:cNvPicPr>
            <a:picLocks noChangeAspect="1"/>
          </p:cNvPicPr>
          <p:nvPr/>
        </p:nvPicPr>
        <p:blipFill>
          <a:blip r:embed="rId2"/>
          <a:srcRect l="24327" r="30371" b="-1"/>
          <a:stretch>
            <a:fillRect/>
          </a:stretch>
        </p:blipFill>
        <p:spPr>
          <a:xfrm>
            <a:off x="20" y="10"/>
            <a:ext cx="4654277" cy="6857990"/>
          </a:xfrm>
          <a:prstGeom prst="rect">
            <a:avLst/>
          </a:prstGeom>
        </p:spPr>
      </p:pic>
    </p:spTree>
    <p:extLst>
      <p:ext uri="{BB962C8B-B14F-4D97-AF65-F5344CB8AC3E}">
        <p14:creationId xmlns:p14="http://schemas.microsoft.com/office/powerpoint/2010/main" val="2314931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1AB811-64AF-3715-C377-7481EC31826E}"/>
              </a:ext>
            </a:extLst>
          </p:cNvPr>
          <p:cNvSpPr>
            <a:spLocks noGrp="1"/>
          </p:cNvSpPr>
          <p:nvPr>
            <p:ph type="title"/>
          </p:nvPr>
        </p:nvSpPr>
        <p:spPr/>
        <p:txBody>
          <a:bodyPr/>
          <a:lstStyle/>
          <a:p>
            <a:r>
              <a:rPr lang="es-ES" dirty="0"/>
              <a:t>¿Qué es una función?</a:t>
            </a:r>
            <a:endParaRPr lang="es-AR" dirty="0"/>
          </a:p>
        </p:txBody>
      </p:sp>
      <p:sp>
        <p:nvSpPr>
          <p:cNvPr id="3" name="Marcador de contenido 2">
            <a:extLst>
              <a:ext uri="{FF2B5EF4-FFF2-40B4-BE49-F238E27FC236}">
                <a16:creationId xmlns:a16="http://schemas.microsoft.com/office/drawing/2014/main" id="{B474E57E-1441-AC16-ADF0-A11E5A9C46CE}"/>
              </a:ext>
            </a:extLst>
          </p:cNvPr>
          <p:cNvSpPr>
            <a:spLocks noGrp="1"/>
          </p:cNvSpPr>
          <p:nvPr>
            <p:ph idx="1"/>
          </p:nvPr>
        </p:nvSpPr>
        <p:spPr/>
        <p:txBody>
          <a:bodyPr/>
          <a:lstStyle/>
          <a:p>
            <a:r>
              <a:rPr lang="es-ES" dirty="0"/>
              <a:t>Al igual que las funciones matemáticas, las funciones en Javascript son un </a:t>
            </a:r>
            <a:r>
              <a:rPr lang="es-ES" b="1" dirty="0"/>
              <a:t>conjunto de acciones </a:t>
            </a:r>
            <a:r>
              <a:rPr lang="es-ES" b="1" i="1" dirty="0"/>
              <a:t>(instrucciones)</a:t>
            </a:r>
            <a:r>
              <a:rPr lang="es-ES" b="1" dirty="0"/>
              <a:t> </a:t>
            </a:r>
            <a:r>
              <a:rPr lang="es-ES" dirty="0"/>
              <a:t>que, generalmente, transforma información, con algunas particularidades que explicaré a continuación. </a:t>
            </a:r>
            <a:endParaRPr lang="es-AR" dirty="0"/>
          </a:p>
        </p:txBody>
      </p:sp>
      <p:pic>
        <p:nvPicPr>
          <p:cNvPr id="1026" name="Picture 2" descr="10.2. Calling Functions — LaunchCode's LCHS documentation">
            <a:extLst>
              <a:ext uri="{FF2B5EF4-FFF2-40B4-BE49-F238E27FC236}">
                <a16:creationId xmlns:a16="http://schemas.microsoft.com/office/drawing/2014/main" id="{0317FD93-D892-C049-20E4-3B1E6F0503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1992" y="3884069"/>
            <a:ext cx="5868015" cy="19684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5501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F2B827-9CE3-67CE-BCE4-AB9F7A824107}"/>
              </a:ext>
            </a:extLst>
          </p:cNvPr>
          <p:cNvSpPr>
            <a:spLocks noGrp="1"/>
          </p:cNvSpPr>
          <p:nvPr>
            <p:ph type="title"/>
          </p:nvPr>
        </p:nvSpPr>
        <p:spPr/>
        <p:txBody>
          <a:bodyPr/>
          <a:lstStyle/>
          <a:p>
            <a:r>
              <a:rPr lang="es-ES" dirty="0"/>
              <a:t>Partes de las funciones</a:t>
            </a:r>
            <a:endParaRPr lang="es-AR" dirty="0"/>
          </a:p>
        </p:txBody>
      </p:sp>
      <p:graphicFrame>
        <p:nvGraphicFramePr>
          <p:cNvPr id="5" name="Objeto 4">
            <a:extLst>
              <a:ext uri="{FF2B5EF4-FFF2-40B4-BE49-F238E27FC236}">
                <a16:creationId xmlns:a16="http://schemas.microsoft.com/office/drawing/2014/main" id="{D124ADB2-F561-CF36-ED6A-D3E5A2F7A44C}"/>
              </a:ext>
            </a:extLst>
          </p:cNvPr>
          <p:cNvGraphicFramePr>
            <a:graphicFrameLocks noChangeAspect="1"/>
          </p:cNvGraphicFramePr>
          <p:nvPr>
            <p:extLst>
              <p:ext uri="{D42A27DB-BD31-4B8C-83A1-F6EECF244321}">
                <p14:modId xmlns:p14="http://schemas.microsoft.com/office/powerpoint/2010/main" val="1917776172"/>
              </p:ext>
            </p:extLst>
          </p:nvPr>
        </p:nvGraphicFramePr>
        <p:xfrm>
          <a:off x="2625554" y="2190736"/>
          <a:ext cx="6940892" cy="2091758"/>
        </p:xfrm>
        <a:graphic>
          <a:graphicData uri="http://schemas.openxmlformats.org/presentationml/2006/ole">
            <mc:AlternateContent xmlns:mc="http://schemas.openxmlformats.org/markup-compatibility/2006">
              <mc:Choice xmlns:v="urn:schemas-microsoft-com:vml" Requires="v">
                <p:oleObj name="Image" r:id="rId2" imgW="14731622" imgH="4436735" progId="Photoshop.Image.16">
                  <p:embed/>
                </p:oleObj>
              </mc:Choice>
              <mc:Fallback>
                <p:oleObj name="Image" r:id="rId2" imgW="14731622" imgH="4436735" progId="Photoshop.Image.16">
                  <p:embed/>
                  <p:pic>
                    <p:nvPicPr>
                      <p:cNvPr id="5" name="Objeto 4">
                        <a:extLst>
                          <a:ext uri="{FF2B5EF4-FFF2-40B4-BE49-F238E27FC236}">
                            <a16:creationId xmlns:a16="http://schemas.microsoft.com/office/drawing/2014/main" id="{D124ADB2-F561-CF36-ED6A-D3E5A2F7A44C}"/>
                          </a:ext>
                        </a:extLst>
                      </p:cNvPr>
                      <p:cNvPicPr/>
                      <p:nvPr/>
                    </p:nvPicPr>
                    <p:blipFill>
                      <a:blip r:embed="rId3"/>
                      <a:stretch>
                        <a:fillRect/>
                      </a:stretch>
                    </p:blipFill>
                    <p:spPr>
                      <a:xfrm>
                        <a:off x="2625554" y="2190736"/>
                        <a:ext cx="6940892" cy="2091758"/>
                      </a:xfrm>
                      <a:prstGeom prst="rect">
                        <a:avLst/>
                      </a:prstGeom>
                    </p:spPr>
                  </p:pic>
                </p:oleObj>
              </mc:Fallback>
            </mc:AlternateContent>
          </a:graphicData>
        </a:graphic>
      </p:graphicFrame>
      <p:pic>
        <p:nvPicPr>
          <p:cNvPr id="7" name="Imagen 6">
            <a:extLst>
              <a:ext uri="{FF2B5EF4-FFF2-40B4-BE49-F238E27FC236}">
                <a16:creationId xmlns:a16="http://schemas.microsoft.com/office/drawing/2014/main" id="{9DA711A7-5F94-82F4-D1E2-4CCEAF30B013}"/>
              </a:ext>
            </a:extLst>
          </p:cNvPr>
          <p:cNvPicPr>
            <a:picLocks noChangeAspect="1"/>
          </p:cNvPicPr>
          <p:nvPr/>
        </p:nvPicPr>
        <p:blipFill>
          <a:blip r:embed="rId4"/>
          <a:stretch>
            <a:fillRect/>
          </a:stretch>
        </p:blipFill>
        <p:spPr>
          <a:xfrm>
            <a:off x="3106298" y="4319818"/>
            <a:ext cx="5830114" cy="186716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376845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C2E567-8061-805F-CF20-4B326205DC23}"/>
              </a:ext>
            </a:extLst>
          </p:cNvPr>
          <p:cNvSpPr>
            <a:spLocks noGrp="1"/>
          </p:cNvSpPr>
          <p:nvPr>
            <p:ph type="title"/>
          </p:nvPr>
        </p:nvSpPr>
        <p:spPr/>
        <p:txBody>
          <a:bodyPr/>
          <a:lstStyle/>
          <a:p>
            <a:r>
              <a:rPr lang="es-ES" dirty="0"/>
              <a:t>Aclaración importante</a:t>
            </a:r>
            <a:endParaRPr lang="es-AR" dirty="0"/>
          </a:p>
        </p:txBody>
      </p:sp>
      <p:sp>
        <p:nvSpPr>
          <p:cNvPr id="3" name="Marcador de contenido 2">
            <a:extLst>
              <a:ext uri="{FF2B5EF4-FFF2-40B4-BE49-F238E27FC236}">
                <a16:creationId xmlns:a16="http://schemas.microsoft.com/office/drawing/2014/main" id="{DFBF2C31-8FCC-10D5-70C9-526FBBCCCB61}"/>
              </a:ext>
            </a:extLst>
          </p:cNvPr>
          <p:cNvSpPr>
            <a:spLocks noGrp="1"/>
          </p:cNvSpPr>
          <p:nvPr>
            <p:ph idx="1"/>
          </p:nvPr>
        </p:nvSpPr>
        <p:spPr/>
        <p:txBody>
          <a:bodyPr/>
          <a:lstStyle/>
          <a:p>
            <a:r>
              <a:rPr lang="es-ES" dirty="0"/>
              <a:t>Las funciones, al igual que los números enteros, vectores, cadenas de caracteres o strings, </a:t>
            </a:r>
            <a:r>
              <a:rPr lang="es-ES" b="1" u="sng" dirty="0">
                <a:effectLst>
                  <a:outerShdw blurRad="38100" dist="38100" dir="2700000" algn="tl">
                    <a:srgbClr val="000000">
                      <a:alpha val="43137"/>
                    </a:srgbClr>
                  </a:outerShdw>
                </a:effectLst>
              </a:rPr>
              <a:t>son un tipo de dato como cualquier otro</a:t>
            </a:r>
            <a:r>
              <a:rPr lang="es-ES" dirty="0"/>
              <a:t>.</a:t>
            </a:r>
          </a:p>
          <a:p>
            <a:endParaRPr lang="es-ES" dirty="0"/>
          </a:p>
          <a:p>
            <a:r>
              <a:rPr lang="es-ES" dirty="0"/>
              <a:t>Esto quiere decir que, al declarar una función, debemos </a:t>
            </a:r>
            <a:r>
              <a:rPr lang="es-ES" b="1" dirty="0"/>
              <a:t>guardarla dentro de una variable.</a:t>
            </a:r>
          </a:p>
          <a:p>
            <a:endParaRPr lang="es-ES" b="1" dirty="0"/>
          </a:p>
          <a:p>
            <a:r>
              <a:rPr lang="es-ES" dirty="0"/>
              <a:t>Veremos qué implica esto más adelante, pero para que ya lo tengas en cuenta, para la computadora una función se puede almacenar igual que cualquier número o string.</a:t>
            </a:r>
            <a:endParaRPr lang="es-AR" dirty="0"/>
          </a:p>
        </p:txBody>
      </p:sp>
    </p:spTree>
    <p:extLst>
      <p:ext uri="{BB962C8B-B14F-4D97-AF65-F5344CB8AC3E}">
        <p14:creationId xmlns:p14="http://schemas.microsoft.com/office/powerpoint/2010/main" val="2415238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A5A7F9-6D92-038E-2A3A-887F44B78E7B}"/>
              </a:ext>
            </a:extLst>
          </p:cNvPr>
          <p:cNvSpPr>
            <a:spLocks noGrp="1"/>
          </p:cNvSpPr>
          <p:nvPr>
            <p:ph type="title"/>
          </p:nvPr>
        </p:nvSpPr>
        <p:spPr/>
        <p:txBody>
          <a:bodyPr>
            <a:normAutofit fontScale="90000"/>
          </a:bodyPr>
          <a:lstStyle/>
          <a:p>
            <a:r>
              <a:rPr lang="es-ES" dirty="0"/>
              <a:t>¿Todas las funciones deben tener un parámetro y retorno?</a:t>
            </a:r>
            <a:endParaRPr lang="es-AR" dirty="0"/>
          </a:p>
        </p:txBody>
      </p:sp>
      <p:sp>
        <p:nvSpPr>
          <p:cNvPr id="3" name="Marcador de texto 2">
            <a:extLst>
              <a:ext uri="{FF2B5EF4-FFF2-40B4-BE49-F238E27FC236}">
                <a16:creationId xmlns:a16="http://schemas.microsoft.com/office/drawing/2014/main" id="{80C99EE4-ECA5-5B02-1DA1-FDECDEC033F3}"/>
              </a:ext>
            </a:extLst>
          </p:cNvPr>
          <p:cNvSpPr>
            <a:spLocks noGrp="1"/>
          </p:cNvSpPr>
          <p:nvPr>
            <p:ph type="body" idx="1"/>
          </p:nvPr>
        </p:nvSpPr>
        <p:spPr>
          <a:xfrm>
            <a:off x="2695194" y="4352465"/>
            <a:ext cx="6801612" cy="2178964"/>
          </a:xfrm>
        </p:spPr>
        <p:txBody>
          <a:bodyPr>
            <a:normAutofit/>
          </a:bodyPr>
          <a:lstStyle/>
          <a:p>
            <a:pPr algn="ctr"/>
            <a:r>
              <a:rPr lang="es-ES" dirty="0"/>
              <a:t>A diferencia de una función matemática, las funciones en programación no necesariamente debe ser un flujo de datos en donde se ingresa, transforma y devuelve algo. </a:t>
            </a:r>
          </a:p>
          <a:p>
            <a:pPr algn="ctr"/>
            <a:endParaRPr lang="es-ES" dirty="0"/>
          </a:p>
          <a:p>
            <a:pPr algn="ctr"/>
            <a:r>
              <a:rPr lang="es-ES" dirty="0"/>
              <a:t>Tener o no parámetros o retorno no es obligatorio.</a:t>
            </a:r>
          </a:p>
        </p:txBody>
      </p:sp>
    </p:spTree>
    <p:extLst>
      <p:ext uri="{BB962C8B-B14F-4D97-AF65-F5344CB8AC3E}">
        <p14:creationId xmlns:p14="http://schemas.microsoft.com/office/powerpoint/2010/main" val="1789402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to 4">
            <a:extLst>
              <a:ext uri="{FF2B5EF4-FFF2-40B4-BE49-F238E27FC236}">
                <a16:creationId xmlns:a16="http://schemas.microsoft.com/office/drawing/2014/main" id="{E2C276CC-A193-643F-BCD5-2F24791B941B}"/>
              </a:ext>
            </a:extLst>
          </p:cNvPr>
          <p:cNvGraphicFramePr>
            <a:graphicFrameLocks noChangeAspect="1"/>
          </p:cNvGraphicFramePr>
          <p:nvPr>
            <p:extLst>
              <p:ext uri="{D42A27DB-BD31-4B8C-83A1-F6EECF244321}">
                <p14:modId xmlns:p14="http://schemas.microsoft.com/office/powerpoint/2010/main" val="3076678162"/>
              </p:ext>
            </p:extLst>
          </p:nvPr>
        </p:nvGraphicFramePr>
        <p:xfrm>
          <a:off x="6836224" y="224278"/>
          <a:ext cx="4647293" cy="1856936"/>
        </p:xfrm>
        <a:graphic>
          <a:graphicData uri="http://schemas.openxmlformats.org/presentationml/2006/ole">
            <mc:AlternateContent xmlns:mc="http://schemas.openxmlformats.org/markup-compatibility/2006">
              <mc:Choice xmlns:v="urn:schemas-microsoft-com:vml" Requires="v">
                <p:oleObj name="Image" r:id="rId2" imgW="10425861" imgH="4165968" progId="Photoshop.Image.16">
                  <p:embed/>
                </p:oleObj>
              </mc:Choice>
              <mc:Fallback>
                <p:oleObj name="Image" r:id="rId2" imgW="10425861" imgH="4165968" progId="Photoshop.Image.16">
                  <p:embed/>
                  <p:pic>
                    <p:nvPicPr>
                      <p:cNvPr id="5" name="Objeto 4">
                        <a:extLst>
                          <a:ext uri="{FF2B5EF4-FFF2-40B4-BE49-F238E27FC236}">
                            <a16:creationId xmlns:a16="http://schemas.microsoft.com/office/drawing/2014/main" id="{E2C276CC-A193-643F-BCD5-2F24791B941B}"/>
                          </a:ext>
                        </a:extLst>
                      </p:cNvPr>
                      <p:cNvPicPr/>
                      <p:nvPr/>
                    </p:nvPicPr>
                    <p:blipFill>
                      <a:blip r:embed="rId3"/>
                      <a:stretch>
                        <a:fillRect/>
                      </a:stretch>
                    </p:blipFill>
                    <p:spPr>
                      <a:xfrm>
                        <a:off x="6836224" y="224278"/>
                        <a:ext cx="4647293" cy="1856936"/>
                      </a:xfrm>
                      <a:prstGeom prst="rect">
                        <a:avLst/>
                      </a:prstGeom>
                    </p:spPr>
                  </p:pic>
                </p:oleObj>
              </mc:Fallback>
            </mc:AlternateContent>
          </a:graphicData>
        </a:graphic>
      </p:graphicFrame>
      <p:graphicFrame>
        <p:nvGraphicFramePr>
          <p:cNvPr id="8" name="Objeto 7">
            <a:extLst>
              <a:ext uri="{FF2B5EF4-FFF2-40B4-BE49-F238E27FC236}">
                <a16:creationId xmlns:a16="http://schemas.microsoft.com/office/drawing/2014/main" id="{65015334-63C4-4DE2-BF58-36107040115C}"/>
              </a:ext>
            </a:extLst>
          </p:cNvPr>
          <p:cNvGraphicFramePr>
            <a:graphicFrameLocks noChangeAspect="1"/>
          </p:cNvGraphicFramePr>
          <p:nvPr>
            <p:extLst>
              <p:ext uri="{D42A27DB-BD31-4B8C-83A1-F6EECF244321}">
                <p14:modId xmlns:p14="http://schemas.microsoft.com/office/powerpoint/2010/main" val="3691312000"/>
              </p:ext>
            </p:extLst>
          </p:nvPr>
        </p:nvGraphicFramePr>
        <p:xfrm>
          <a:off x="6836227" y="2538384"/>
          <a:ext cx="4647293" cy="1781231"/>
        </p:xfrm>
        <a:graphic>
          <a:graphicData uri="http://schemas.openxmlformats.org/presentationml/2006/ole">
            <mc:AlternateContent xmlns:mc="http://schemas.openxmlformats.org/markup-compatibility/2006">
              <mc:Choice xmlns:v="urn:schemas-microsoft-com:vml" Requires="v">
                <p:oleObj name="Image" r:id="rId4" imgW="10635961" imgH="4075997" progId="Photoshop.Image.16">
                  <p:embed/>
                </p:oleObj>
              </mc:Choice>
              <mc:Fallback>
                <p:oleObj name="Image" r:id="rId4" imgW="10635961" imgH="4075997" progId="Photoshop.Image.16">
                  <p:embed/>
                  <p:pic>
                    <p:nvPicPr>
                      <p:cNvPr id="8" name="Objeto 7">
                        <a:extLst>
                          <a:ext uri="{FF2B5EF4-FFF2-40B4-BE49-F238E27FC236}">
                            <a16:creationId xmlns:a16="http://schemas.microsoft.com/office/drawing/2014/main" id="{65015334-63C4-4DE2-BF58-36107040115C}"/>
                          </a:ext>
                        </a:extLst>
                      </p:cNvPr>
                      <p:cNvPicPr/>
                      <p:nvPr/>
                    </p:nvPicPr>
                    <p:blipFill>
                      <a:blip r:embed="rId5"/>
                      <a:stretch>
                        <a:fillRect/>
                      </a:stretch>
                    </p:blipFill>
                    <p:spPr>
                      <a:xfrm>
                        <a:off x="6836227" y="2538384"/>
                        <a:ext cx="4647293" cy="1781231"/>
                      </a:xfrm>
                      <a:prstGeom prst="rect">
                        <a:avLst/>
                      </a:prstGeom>
                    </p:spPr>
                  </p:pic>
                </p:oleObj>
              </mc:Fallback>
            </mc:AlternateContent>
          </a:graphicData>
        </a:graphic>
      </p:graphicFrame>
      <p:graphicFrame>
        <p:nvGraphicFramePr>
          <p:cNvPr id="9" name="Objeto 8">
            <a:extLst>
              <a:ext uri="{FF2B5EF4-FFF2-40B4-BE49-F238E27FC236}">
                <a16:creationId xmlns:a16="http://schemas.microsoft.com/office/drawing/2014/main" id="{E4D3B126-683F-BD4A-0681-82A3CC04766E}"/>
              </a:ext>
            </a:extLst>
          </p:cNvPr>
          <p:cNvGraphicFramePr>
            <a:graphicFrameLocks noChangeAspect="1"/>
          </p:cNvGraphicFramePr>
          <p:nvPr>
            <p:extLst>
              <p:ext uri="{D42A27DB-BD31-4B8C-83A1-F6EECF244321}">
                <p14:modId xmlns:p14="http://schemas.microsoft.com/office/powerpoint/2010/main" val="2037570215"/>
              </p:ext>
            </p:extLst>
          </p:nvPr>
        </p:nvGraphicFramePr>
        <p:xfrm>
          <a:off x="7561369" y="4622178"/>
          <a:ext cx="3197001" cy="2011544"/>
        </p:xfrm>
        <a:graphic>
          <a:graphicData uri="http://schemas.openxmlformats.org/presentationml/2006/ole">
            <mc:AlternateContent xmlns:mc="http://schemas.openxmlformats.org/markup-compatibility/2006">
              <mc:Choice xmlns:v="urn:schemas-microsoft-com:vml" Requires="v">
                <p:oleObj name="Image" r:id="rId6" imgW="6525414" imgH="4105846" progId="Photoshop.Image.16">
                  <p:embed/>
                </p:oleObj>
              </mc:Choice>
              <mc:Fallback>
                <p:oleObj name="Image" r:id="rId6" imgW="6525414" imgH="4105846" progId="Photoshop.Image.16">
                  <p:embed/>
                  <p:pic>
                    <p:nvPicPr>
                      <p:cNvPr id="9" name="Objeto 8">
                        <a:extLst>
                          <a:ext uri="{FF2B5EF4-FFF2-40B4-BE49-F238E27FC236}">
                            <a16:creationId xmlns:a16="http://schemas.microsoft.com/office/drawing/2014/main" id="{E4D3B126-683F-BD4A-0681-82A3CC04766E}"/>
                          </a:ext>
                        </a:extLst>
                      </p:cNvPr>
                      <p:cNvPicPr/>
                      <p:nvPr/>
                    </p:nvPicPr>
                    <p:blipFill>
                      <a:blip r:embed="rId7"/>
                      <a:stretch>
                        <a:fillRect/>
                      </a:stretch>
                    </p:blipFill>
                    <p:spPr>
                      <a:xfrm>
                        <a:off x="7561369" y="4622178"/>
                        <a:ext cx="3197001" cy="2011544"/>
                      </a:xfrm>
                      <a:prstGeom prst="rect">
                        <a:avLst/>
                      </a:prstGeom>
                    </p:spPr>
                  </p:pic>
                </p:oleObj>
              </mc:Fallback>
            </mc:AlternateContent>
          </a:graphicData>
        </a:graphic>
      </p:graphicFrame>
      <p:pic>
        <p:nvPicPr>
          <p:cNvPr id="11" name="Imagen 10">
            <a:extLst>
              <a:ext uri="{FF2B5EF4-FFF2-40B4-BE49-F238E27FC236}">
                <a16:creationId xmlns:a16="http://schemas.microsoft.com/office/drawing/2014/main" id="{3366C726-71A0-8B66-4654-5E04B4E409B3}"/>
              </a:ext>
            </a:extLst>
          </p:cNvPr>
          <p:cNvPicPr>
            <a:picLocks noChangeAspect="1"/>
          </p:cNvPicPr>
          <p:nvPr/>
        </p:nvPicPr>
        <p:blipFill>
          <a:blip r:embed="rId8"/>
          <a:stretch>
            <a:fillRect/>
          </a:stretch>
        </p:blipFill>
        <p:spPr>
          <a:xfrm>
            <a:off x="1031853" y="700245"/>
            <a:ext cx="3553321" cy="90500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3" name="Imagen 12">
            <a:extLst>
              <a:ext uri="{FF2B5EF4-FFF2-40B4-BE49-F238E27FC236}">
                <a16:creationId xmlns:a16="http://schemas.microsoft.com/office/drawing/2014/main" id="{51AC2976-240C-9B31-AC61-6753BF63FAB6}"/>
              </a:ext>
            </a:extLst>
          </p:cNvPr>
          <p:cNvPicPr>
            <a:picLocks noChangeAspect="1"/>
          </p:cNvPicPr>
          <p:nvPr/>
        </p:nvPicPr>
        <p:blipFill>
          <a:blip r:embed="rId9"/>
          <a:stretch>
            <a:fillRect/>
          </a:stretch>
        </p:blipFill>
        <p:spPr>
          <a:xfrm>
            <a:off x="922300" y="2928866"/>
            <a:ext cx="3772426" cy="100026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5" name="Imagen 14">
            <a:extLst>
              <a:ext uri="{FF2B5EF4-FFF2-40B4-BE49-F238E27FC236}">
                <a16:creationId xmlns:a16="http://schemas.microsoft.com/office/drawing/2014/main" id="{1051523C-FC88-6EBF-99D3-3BCE00478AFA}"/>
              </a:ext>
            </a:extLst>
          </p:cNvPr>
          <p:cNvPicPr>
            <a:picLocks noChangeAspect="1"/>
          </p:cNvPicPr>
          <p:nvPr/>
        </p:nvPicPr>
        <p:blipFill>
          <a:blip r:embed="rId10"/>
          <a:stretch>
            <a:fillRect/>
          </a:stretch>
        </p:blipFill>
        <p:spPr>
          <a:xfrm>
            <a:off x="1341458" y="5223081"/>
            <a:ext cx="2934109" cy="8097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58033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C20CF9-9E46-34C1-BD85-F36F75E60E65}"/>
              </a:ext>
            </a:extLst>
          </p:cNvPr>
          <p:cNvSpPr>
            <a:spLocks noGrp="1"/>
          </p:cNvSpPr>
          <p:nvPr>
            <p:ph type="title"/>
          </p:nvPr>
        </p:nvSpPr>
        <p:spPr/>
        <p:txBody>
          <a:bodyPr/>
          <a:lstStyle/>
          <a:p>
            <a:r>
              <a:rPr lang="es-ES" dirty="0"/>
              <a:t>¿Cuáles son los tipos de funciones?</a:t>
            </a:r>
            <a:endParaRPr lang="es-AR" dirty="0"/>
          </a:p>
        </p:txBody>
      </p:sp>
      <p:sp>
        <p:nvSpPr>
          <p:cNvPr id="3" name="Marcador de texto 2">
            <a:extLst>
              <a:ext uri="{FF2B5EF4-FFF2-40B4-BE49-F238E27FC236}">
                <a16:creationId xmlns:a16="http://schemas.microsoft.com/office/drawing/2014/main" id="{982EEEB2-3B21-89AF-9AA6-9AACA5550D9A}"/>
              </a:ext>
            </a:extLst>
          </p:cNvPr>
          <p:cNvSpPr>
            <a:spLocks noGrp="1"/>
          </p:cNvSpPr>
          <p:nvPr>
            <p:ph type="body" idx="1"/>
          </p:nvPr>
        </p:nvSpPr>
        <p:spPr>
          <a:xfrm>
            <a:off x="2695194" y="4352464"/>
            <a:ext cx="6801612" cy="2048335"/>
          </a:xfrm>
        </p:spPr>
        <p:txBody>
          <a:bodyPr>
            <a:normAutofit/>
          </a:bodyPr>
          <a:lstStyle/>
          <a:p>
            <a:pPr algn="ctr"/>
            <a:r>
              <a:rPr lang="es-ES" dirty="0"/>
              <a:t>Javascript tiene muchísimos tipos de funciones distintas, pero aquí veremos las 3 más importantes que hay que saber utilizar.</a:t>
            </a:r>
            <a:endParaRPr lang="es-AR" dirty="0"/>
          </a:p>
        </p:txBody>
      </p:sp>
    </p:spTree>
    <p:extLst>
      <p:ext uri="{BB962C8B-B14F-4D97-AF65-F5344CB8AC3E}">
        <p14:creationId xmlns:p14="http://schemas.microsoft.com/office/powerpoint/2010/main" val="3736514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A60C90-C394-F103-BB41-0B6518850A99}"/>
              </a:ext>
            </a:extLst>
          </p:cNvPr>
          <p:cNvSpPr>
            <a:spLocks noGrp="1"/>
          </p:cNvSpPr>
          <p:nvPr>
            <p:ph type="title"/>
          </p:nvPr>
        </p:nvSpPr>
        <p:spPr/>
        <p:txBody>
          <a:bodyPr/>
          <a:lstStyle/>
          <a:p>
            <a:r>
              <a:rPr lang="es-ES" dirty="0"/>
              <a:t>Funciones definidas</a:t>
            </a:r>
            <a:endParaRPr lang="es-AR" dirty="0"/>
          </a:p>
        </p:txBody>
      </p:sp>
      <p:sp>
        <p:nvSpPr>
          <p:cNvPr id="3" name="Marcador de contenido 2">
            <a:extLst>
              <a:ext uri="{FF2B5EF4-FFF2-40B4-BE49-F238E27FC236}">
                <a16:creationId xmlns:a16="http://schemas.microsoft.com/office/drawing/2014/main" id="{048D9497-37A6-7A6D-7F88-F9ED698E7163}"/>
              </a:ext>
            </a:extLst>
          </p:cNvPr>
          <p:cNvSpPr>
            <a:spLocks noGrp="1"/>
          </p:cNvSpPr>
          <p:nvPr>
            <p:ph sz="half" idx="1"/>
          </p:nvPr>
        </p:nvSpPr>
        <p:spPr>
          <a:xfrm>
            <a:off x="1073443" y="2248026"/>
            <a:ext cx="4271771" cy="4609974"/>
          </a:xfrm>
        </p:spPr>
        <p:txBody>
          <a:bodyPr>
            <a:normAutofit/>
          </a:bodyPr>
          <a:lstStyle/>
          <a:p>
            <a:r>
              <a:rPr lang="es-ES" dirty="0"/>
              <a:t>Son los tipos más comunes de funciones en todos los lenguajes de programación.</a:t>
            </a:r>
          </a:p>
          <a:p>
            <a:pPr marL="0" indent="0">
              <a:buNone/>
            </a:pPr>
            <a:endParaRPr lang="es-ES" dirty="0"/>
          </a:p>
          <a:p>
            <a:r>
              <a:rPr lang="es-ES" dirty="0"/>
              <a:t>En Javascript, ahorra el paso de declarar una variable y asignarle el valor de la función, ya que ese paso está implícito.</a:t>
            </a:r>
          </a:p>
          <a:p>
            <a:endParaRPr lang="es-ES" dirty="0"/>
          </a:p>
          <a:p>
            <a:r>
              <a:rPr lang="es-ES" dirty="0"/>
              <a:t>Estas declaraciones son equivalentes, pero escritas de distintas formas. </a:t>
            </a:r>
            <a:br>
              <a:rPr lang="es-ES" dirty="0"/>
            </a:br>
            <a:endParaRPr lang="es-AR" dirty="0"/>
          </a:p>
          <a:p>
            <a:r>
              <a:rPr lang="es-AR" dirty="0"/>
              <a:t>La mínima expresión sería</a:t>
            </a:r>
            <a:br>
              <a:rPr lang="es-AR" dirty="0"/>
            </a:br>
            <a:r>
              <a:rPr lang="es-AR" dirty="0"/>
              <a:t>function </a:t>
            </a:r>
            <a:r>
              <a:rPr lang="es-AR" i="1" dirty="0" err="1"/>
              <a:t>nombreFunción</a:t>
            </a:r>
            <a:r>
              <a:rPr lang="es-AR" dirty="0"/>
              <a:t>() {}</a:t>
            </a:r>
            <a:endParaRPr lang="es-ES" dirty="0"/>
          </a:p>
        </p:txBody>
      </p:sp>
      <p:pic>
        <p:nvPicPr>
          <p:cNvPr id="8" name="Imagen 7">
            <a:extLst>
              <a:ext uri="{FF2B5EF4-FFF2-40B4-BE49-F238E27FC236}">
                <a16:creationId xmlns:a16="http://schemas.microsoft.com/office/drawing/2014/main" id="{385C1FC8-6E63-93B5-22AB-20A9DFC7FD71}"/>
              </a:ext>
            </a:extLst>
          </p:cNvPr>
          <p:cNvPicPr>
            <a:picLocks noChangeAspect="1"/>
          </p:cNvPicPr>
          <p:nvPr/>
        </p:nvPicPr>
        <p:blipFill>
          <a:blip r:embed="rId2"/>
          <a:stretch>
            <a:fillRect/>
          </a:stretch>
        </p:blipFill>
        <p:spPr>
          <a:xfrm>
            <a:off x="5853683" y="2638044"/>
            <a:ext cx="5965371" cy="284809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751194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B04E04-CABD-3F4B-3E8E-4E5A8A88A2FB}"/>
              </a:ext>
            </a:extLst>
          </p:cNvPr>
          <p:cNvSpPr>
            <a:spLocks noGrp="1"/>
          </p:cNvSpPr>
          <p:nvPr>
            <p:ph type="title"/>
          </p:nvPr>
        </p:nvSpPr>
        <p:spPr/>
        <p:txBody>
          <a:bodyPr/>
          <a:lstStyle/>
          <a:p>
            <a:r>
              <a:rPr lang="es-ES" dirty="0"/>
              <a:t>Función flecha</a:t>
            </a:r>
            <a:endParaRPr lang="es-AR" dirty="0"/>
          </a:p>
        </p:txBody>
      </p:sp>
      <p:sp>
        <p:nvSpPr>
          <p:cNvPr id="3" name="Marcador de contenido 2">
            <a:extLst>
              <a:ext uri="{FF2B5EF4-FFF2-40B4-BE49-F238E27FC236}">
                <a16:creationId xmlns:a16="http://schemas.microsoft.com/office/drawing/2014/main" id="{9D7F5AA5-1481-8334-24B4-27FC3BE0480F}"/>
              </a:ext>
            </a:extLst>
          </p:cNvPr>
          <p:cNvSpPr>
            <a:spLocks noGrp="1"/>
          </p:cNvSpPr>
          <p:nvPr>
            <p:ph sz="half" idx="1"/>
          </p:nvPr>
        </p:nvSpPr>
        <p:spPr>
          <a:xfrm>
            <a:off x="1581912" y="2638044"/>
            <a:ext cx="4271771" cy="3643014"/>
          </a:xfrm>
        </p:spPr>
        <p:txBody>
          <a:bodyPr>
            <a:normAutofit/>
          </a:bodyPr>
          <a:lstStyle/>
          <a:p>
            <a:r>
              <a:rPr lang="es-ES" dirty="0"/>
              <a:t>Segundo tipo más común de funciones en todo </a:t>
            </a:r>
            <a:r>
              <a:rPr lang="es-ES" dirty="0" err="1"/>
              <a:t>Javascript</a:t>
            </a:r>
            <a:r>
              <a:rPr lang="es-ES" dirty="0"/>
              <a:t>.</a:t>
            </a:r>
          </a:p>
          <a:p>
            <a:endParaRPr lang="es-ES" dirty="0"/>
          </a:p>
          <a:p>
            <a:r>
              <a:rPr lang="es-ES" dirty="0"/>
              <a:t>Muy útiles cuando se quiere guardar una función en un objeto (método) o pasar una función como parámetro a otra función.</a:t>
            </a:r>
          </a:p>
          <a:p>
            <a:endParaRPr lang="es-ES" dirty="0"/>
          </a:p>
          <a:p>
            <a:r>
              <a:rPr lang="es-ES" dirty="0"/>
              <a:t>La mínima expresión de estas funciones es</a:t>
            </a:r>
            <a:br>
              <a:rPr lang="es-ES" dirty="0"/>
            </a:br>
            <a:r>
              <a:rPr lang="es-ES" dirty="0"/>
              <a:t>() =&gt; {}</a:t>
            </a:r>
            <a:endParaRPr lang="es-AR" dirty="0"/>
          </a:p>
        </p:txBody>
      </p:sp>
      <p:pic>
        <p:nvPicPr>
          <p:cNvPr id="6" name="Imagen 5">
            <a:extLst>
              <a:ext uri="{FF2B5EF4-FFF2-40B4-BE49-F238E27FC236}">
                <a16:creationId xmlns:a16="http://schemas.microsoft.com/office/drawing/2014/main" id="{49611C7E-678A-9D3F-6761-CBC850301F1A}"/>
              </a:ext>
            </a:extLst>
          </p:cNvPr>
          <p:cNvPicPr>
            <a:picLocks noChangeAspect="1"/>
          </p:cNvPicPr>
          <p:nvPr/>
        </p:nvPicPr>
        <p:blipFill>
          <a:blip r:embed="rId2"/>
          <a:stretch>
            <a:fillRect/>
          </a:stretch>
        </p:blipFill>
        <p:spPr>
          <a:xfrm>
            <a:off x="6602514" y="3412639"/>
            <a:ext cx="5039428" cy="155279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087164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8E860D-D69E-9157-9F54-46149B8B3EF2}"/>
              </a:ext>
            </a:extLst>
          </p:cNvPr>
          <p:cNvSpPr>
            <a:spLocks noGrp="1"/>
          </p:cNvSpPr>
          <p:nvPr>
            <p:ph type="title"/>
          </p:nvPr>
        </p:nvSpPr>
        <p:spPr/>
        <p:txBody>
          <a:bodyPr/>
          <a:lstStyle/>
          <a:p>
            <a:r>
              <a:rPr lang="es-ES" dirty="0"/>
              <a:t>Función flecha con retorno implícito</a:t>
            </a:r>
            <a:endParaRPr lang="es-AR" dirty="0"/>
          </a:p>
        </p:txBody>
      </p:sp>
      <p:sp>
        <p:nvSpPr>
          <p:cNvPr id="3" name="Marcador de contenido 2">
            <a:extLst>
              <a:ext uri="{FF2B5EF4-FFF2-40B4-BE49-F238E27FC236}">
                <a16:creationId xmlns:a16="http://schemas.microsoft.com/office/drawing/2014/main" id="{5A96A509-3FFA-5896-75C4-4956DE363CCB}"/>
              </a:ext>
            </a:extLst>
          </p:cNvPr>
          <p:cNvSpPr>
            <a:spLocks noGrp="1"/>
          </p:cNvSpPr>
          <p:nvPr>
            <p:ph sz="half" idx="1"/>
          </p:nvPr>
        </p:nvSpPr>
        <p:spPr>
          <a:xfrm>
            <a:off x="1581912" y="2638044"/>
            <a:ext cx="4271771" cy="3751870"/>
          </a:xfrm>
        </p:spPr>
        <p:txBody>
          <a:bodyPr>
            <a:normAutofit/>
          </a:bodyPr>
          <a:lstStyle/>
          <a:p>
            <a:r>
              <a:rPr lang="es-ES" dirty="0"/>
              <a:t>Otras formas de escribir la función flecha</a:t>
            </a:r>
          </a:p>
          <a:p>
            <a:endParaRPr lang="es-ES" dirty="0"/>
          </a:p>
          <a:p>
            <a:r>
              <a:rPr lang="es-ES" dirty="0"/>
              <a:t>Si </a:t>
            </a:r>
            <a:r>
              <a:rPr lang="es-ES" b="1" i="1" u="sng" dirty="0">
                <a:effectLst>
                  <a:outerShdw blurRad="38100" dist="38100" dir="2700000" algn="tl">
                    <a:srgbClr val="000000">
                      <a:alpha val="43137"/>
                    </a:srgbClr>
                  </a:outerShdw>
                </a:effectLst>
              </a:rPr>
              <a:t>sólo</a:t>
            </a:r>
            <a:r>
              <a:rPr lang="es-ES" dirty="0"/>
              <a:t> se recibe un parámetro, no es necesario poner paréntesis</a:t>
            </a:r>
          </a:p>
          <a:p>
            <a:r>
              <a:rPr lang="es-ES" dirty="0"/>
              <a:t>Si </a:t>
            </a:r>
            <a:r>
              <a:rPr lang="es-ES" b="1" i="1" u="sng" dirty="0">
                <a:effectLst>
                  <a:outerShdw blurRad="38100" dist="38100" dir="2700000" algn="tl">
                    <a:srgbClr val="000000">
                      <a:alpha val="43137"/>
                    </a:srgbClr>
                  </a:outerShdw>
                </a:effectLst>
              </a:rPr>
              <a:t>lo único que hace la función es un return</a:t>
            </a:r>
            <a:r>
              <a:rPr lang="es-ES" dirty="0"/>
              <a:t>, se pueden borrar las llaves y la palabra return</a:t>
            </a:r>
          </a:p>
          <a:p>
            <a:endParaRPr lang="es-ES" dirty="0"/>
          </a:p>
          <a:p>
            <a:r>
              <a:rPr lang="es-ES" dirty="0"/>
              <a:t>En cualquier otro caso, se deben usar las llaves, paréntesis y return </a:t>
            </a:r>
            <a:r>
              <a:rPr lang="es-ES" i="1" dirty="0"/>
              <a:t>(si hay retorno)</a:t>
            </a:r>
            <a:endParaRPr lang="es-ES" dirty="0"/>
          </a:p>
        </p:txBody>
      </p:sp>
      <p:pic>
        <p:nvPicPr>
          <p:cNvPr id="5" name="Imagen 4">
            <a:extLst>
              <a:ext uri="{FF2B5EF4-FFF2-40B4-BE49-F238E27FC236}">
                <a16:creationId xmlns:a16="http://schemas.microsoft.com/office/drawing/2014/main" id="{993C07CB-0FD5-A1C6-23F1-2CEBEBD19B81}"/>
              </a:ext>
            </a:extLst>
          </p:cNvPr>
          <p:cNvPicPr>
            <a:picLocks noChangeAspect="1"/>
          </p:cNvPicPr>
          <p:nvPr/>
        </p:nvPicPr>
        <p:blipFill>
          <a:blip r:embed="rId2"/>
          <a:stretch>
            <a:fillRect/>
          </a:stretch>
        </p:blipFill>
        <p:spPr>
          <a:xfrm>
            <a:off x="6414353" y="2772383"/>
            <a:ext cx="5010052" cy="292049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064608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E68D34-829F-2D02-68EA-F3CE74233FEB}"/>
              </a:ext>
            </a:extLst>
          </p:cNvPr>
          <p:cNvSpPr>
            <a:spLocks noGrp="1"/>
          </p:cNvSpPr>
          <p:nvPr>
            <p:ph type="title"/>
          </p:nvPr>
        </p:nvSpPr>
        <p:spPr/>
        <p:txBody>
          <a:bodyPr/>
          <a:lstStyle/>
          <a:p>
            <a:r>
              <a:rPr lang="es-ES" dirty="0"/>
              <a:t>En resumen</a:t>
            </a:r>
            <a:endParaRPr lang="es-AR" dirty="0"/>
          </a:p>
        </p:txBody>
      </p:sp>
      <p:sp>
        <p:nvSpPr>
          <p:cNvPr id="3" name="Marcador de contenido 2">
            <a:extLst>
              <a:ext uri="{FF2B5EF4-FFF2-40B4-BE49-F238E27FC236}">
                <a16:creationId xmlns:a16="http://schemas.microsoft.com/office/drawing/2014/main" id="{7C9BD3E0-4E84-9BB4-3E6A-BF72664386FE}"/>
              </a:ext>
            </a:extLst>
          </p:cNvPr>
          <p:cNvSpPr>
            <a:spLocks noGrp="1"/>
          </p:cNvSpPr>
          <p:nvPr>
            <p:ph idx="1"/>
          </p:nvPr>
        </p:nvSpPr>
        <p:spPr/>
        <p:txBody>
          <a:bodyPr/>
          <a:lstStyle/>
          <a:p>
            <a:r>
              <a:rPr lang="es-ES" dirty="0"/>
              <a:t>Acuérdense del nombre y cómo definir estas 3 funciones y con eso les va a alcanzar para entender la sintaxis de lo que viene a continuación</a:t>
            </a:r>
            <a:endParaRPr lang="es-AR" dirty="0"/>
          </a:p>
        </p:txBody>
      </p:sp>
      <p:pic>
        <p:nvPicPr>
          <p:cNvPr id="5" name="Imagen 4">
            <a:extLst>
              <a:ext uri="{FF2B5EF4-FFF2-40B4-BE49-F238E27FC236}">
                <a16:creationId xmlns:a16="http://schemas.microsoft.com/office/drawing/2014/main" id="{01204CB1-9742-4A0D-68DF-6BC327E40971}"/>
              </a:ext>
            </a:extLst>
          </p:cNvPr>
          <p:cNvPicPr>
            <a:picLocks noChangeAspect="1"/>
          </p:cNvPicPr>
          <p:nvPr/>
        </p:nvPicPr>
        <p:blipFill>
          <a:blip r:embed="rId2"/>
          <a:stretch>
            <a:fillRect/>
          </a:stretch>
        </p:blipFill>
        <p:spPr>
          <a:xfrm>
            <a:off x="2520958" y="3536720"/>
            <a:ext cx="7491468" cy="235658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734397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7143F81-F11F-6C2F-6FA3-BA2CD6664FED}"/>
              </a:ext>
            </a:extLst>
          </p:cNvPr>
          <p:cNvSpPr>
            <a:spLocks noGrp="1"/>
          </p:cNvSpPr>
          <p:nvPr>
            <p:ph type="title"/>
          </p:nvPr>
        </p:nvSpPr>
        <p:spPr>
          <a:xfrm>
            <a:off x="2231136" y="467418"/>
            <a:ext cx="7729728" cy="1188720"/>
          </a:xfrm>
          <a:solidFill>
            <a:srgbClr val="FFFFFF"/>
          </a:solidFill>
        </p:spPr>
        <p:txBody>
          <a:bodyPr>
            <a:normAutofit/>
          </a:bodyPr>
          <a:lstStyle/>
          <a:p>
            <a:r>
              <a:rPr lang="es-ES" dirty="0"/>
              <a:t>¿Qué es una función internamente?</a:t>
            </a:r>
            <a:endParaRPr lang="es-AR" dirty="0"/>
          </a:p>
        </p:txBody>
      </p:sp>
      <p:sp>
        <p:nvSpPr>
          <p:cNvPr id="3" name="Marcador de contenido 2">
            <a:extLst>
              <a:ext uri="{FF2B5EF4-FFF2-40B4-BE49-F238E27FC236}">
                <a16:creationId xmlns:a16="http://schemas.microsoft.com/office/drawing/2014/main" id="{8D696A2C-6802-74B2-A099-662BBC59633C}"/>
              </a:ext>
            </a:extLst>
          </p:cNvPr>
          <p:cNvSpPr>
            <a:spLocks noGrp="1"/>
          </p:cNvSpPr>
          <p:nvPr>
            <p:ph idx="1"/>
          </p:nvPr>
        </p:nvSpPr>
        <p:spPr>
          <a:xfrm>
            <a:off x="1706062" y="2291262"/>
            <a:ext cx="8779512" cy="2879256"/>
          </a:xfrm>
        </p:spPr>
        <p:txBody>
          <a:bodyPr>
            <a:normAutofit/>
          </a:bodyPr>
          <a:lstStyle/>
          <a:p>
            <a:r>
              <a:rPr lang="es-ES" dirty="0">
                <a:solidFill>
                  <a:srgbClr val="404040"/>
                </a:solidFill>
              </a:rPr>
              <a:t>Al igual que los números, arrays y strings, las funciones son </a:t>
            </a:r>
            <a:r>
              <a:rPr lang="es-ES" b="1" dirty="0">
                <a:solidFill>
                  <a:srgbClr val="404040"/>
                </a:solidFill>
              </a:rPr>
              <a:t>un tipo de dato como cualquier otro</a:t>
            </a:r>
            <a:r>
              <a:rPr lang="es-ES" dirty="0">
                <a:solidFill>
                  <a:srgbClr val="404040"/>
                </a:solidFill>
              </a:rPr>
              <a:t> que se guarda en una variable.</a:t>
            </a:r>
          </a:p>
          <a:p>
            <a:r>
              <a:rPr lang="es-AR" dirty="0">
                <a:solidFill>
                  <a:srgbClr val="404040"/>
                </a:solidFill>
              </a:rPr>
              <a:t>Como consecuencia, nosotros podemos diferenciar 2 formas de llamar a una función:</a:t>
            </a:r>
            <a:br>
              <a:rPr lang="es-AR" dirty="0">
                <a:solidFill>
                  <a:srgbClr val="404040"/>
                </a:solidFill>
              </a:rPr>
            </a:br>
            <a:br>
              <a:rPr lang="es-AR" dirty="0">
                <a:solidFill>
                  <a:srgbClr val="404040"/>
                </a:solidFill>
              </a:rPr>
            </a:br>
            <a:r>
              <a:rPr lang="es-AR" dirty="0">
                <a:solidFill>
                  <a:srgbClr val="404040"/>
                </a:solidFill>
              </a:rPr>
              <a:t>1) Por definición (No ponemos paréntesis)</a:t>
            </a:r>
            <a:br>
              <a:rPr lang="es-AR" dirty="0">
                <a:solidFill>
                  <a:srgbClr val="404040"/>
                </a:solidFill>
              </a:rPr>
            </a:br>
            <a:r>
              <a:rPr lang="es-AR" dirty="0">
                <a:solidFill>
                  <a:srgbClr val="404040"/>
                </a:solidFill>
              </a:rPr>
              <a:t>2) Por invocación (Ponemos paréntesis)</a:t>
            </a:r>
          </a:p>
          <a:p>
            <a:r>
              <a:rPr lang="es-AR" dirty="0">
                <a:solidFill>
                  <a:srgbClr val="404040"/>
                </a:solidFill>
              </a:rPr>
              <a:t>En la siguiente diapositiva, mostramos ambas con esta función de aquí:</a:t>
            </a:r>
          </a:p>
        </p:txBody>
      </p:sp>
      <p:pic>
        <p:nvPicPr>
          <p:cNvPr id="5" name="Imagen 4">
            <a:extLst>
              <a:ext uri="{FF2B5EF4-FFF2-40B4-BE49-F238E27FC236}">
                <a16:creationId xmlns:a16="http://schemas.microsoft.com/office/drawing/2014/main" id="{753E5C67-1EA0-E5F3-9A8E-B121257BC0B7}"/>
              </a:ext>
            </a:extLst>
          </p:cNvPr>
          <p:cNvPicPr>
            <a:picLocks noChangeAspect="1"/>
          </p:cNvPicPr>
          <p:nvPr/>
        </p:nvPicPr>
        <p:blipFill>
          <a:blip r:embed="rId2"/>
          <a:stretch>
            <a:fillRect/>
          </a:stretch>
        </p:blipFill>
        <p:spPr>
          <a:xfrm>
            <a:off x="4669745" y="4609827"/>
            <a:ext cx="2852145" cy="72162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341308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B96ACB6-0145-ED7F-CD16-FAE90E929897}"/>
              </a:ext>
            </a:extLst>
          </p:cNvPr>
          <p:cNvSpPr>
            <a:spLocks noGrp="1"/>
          </p:cNvSpPr>
          <p:nvPr>
            <p:ph type="body" idx="1"/>
          </p:nvPr>
        </p:nvSpPr>
        <p:spPr/>
        <p:txBody>
          <a:bodyPr/>
          <a:lstStyle/>
          <a:p>
            <a:r>
              <a:rPr lang="es-ES" dirty="0"/>
              <a:t>definición</a:t>
            </a:r>
            <a:endParaRPr lang="es-AR" dirty="0"/>
          </a:p>
        </p:txBody>
      </p:sp>
      <p:sp>
        <p:nvSpPr>
          <p:cNvPr id="3" name="Marcador de contenido 2">
            <a:extLst>
              <a:ext uri="{FF2B5EF4-FFF2-40B4-BE49-F238E27FC236}">
                <a16:creationId xmlns:a16="http://schemas.microsoft.com/office/drawing/2014/main" id="{1446F99F-2D4C-83F1-D3D9-F79B86236558}"/>
              </a:ext>
            </a:extLst>
          </p:cNvPr>
          <p:cNvSpPr>
            <a:spLocks noGrp="1"/>
          </p:cNvSpPr>
          <p:nvPr>
            <p:ph sz="half" idx="2"/>
          </p:nvPr>
        </p:nvSpPr>
        <p:spPr/>
        <p:txBody>
          <a:bodyPr/>
          <a:lstStyle/>
          <a:p>
            <a:r>
              <a:rPr lang="es-ES" dirty="0"/>
              <a:t>La utilizamos para enviar funciones por parámetro </a:t>
            </a:r>
            <a:r>
              <a:rPr lang="es-ES" i="1" dirty="0"/>
              <a:t>(</a:t>
            </a:r>
            <a:r>
              <a:rPr lang="es-ES" i="1" dirty="0" err="1"/>
              <a:t>callbacks</a:t>
            </a:r>
            <a:r>
              <a:rPr lang="es-ES" i="1" dirty="0"/>
              <a:t>) </a:t>
            </a:r>
            <a:r>
              <a:rPr lang="es-ES" dirty="0"/>
              <a:t>lo cual veremos más adelante en clases posteriores</a:t>
            </a:r>
            <a:endParaRPr lang="es-AR" dirty="0"/>
          </a:p>
        </p:txBody>
      </p:sp>
      <p:sp>
        <p:nvSpPr>
          <p:cNvPr id="4" name="Marcador de contenido 3">
            <a:extLst>
              <a:ext uri="{FF2B5EF4-FFF2-40B4-BE49-F238E27FC236}">
                <a16:creationId xmlns:a16="http://schemas.microsoft.com/office/drawing/2014/main" id="{E98B71BE-D6F2-6B45-795B-7FBE86A2660B}"/>
              </a:ext>
            </a:extLst>
          </p:cNvPr>
          <p:cNvSpPr>
            <a:spLocks noGrp="1"/>
          </p:cNvSpPr>
          <p:nvPr>
            <p:ph sz="quarter" idx="4"/>
          </p:nvPr>
        </p:nvSpPr>
        <p:spPr/>
        <p:txBody>
          <a:bodyPr/>
          <a:lstStyle/>
          <a:p>
            <a:r>
              <a:rPr lang="es-ES" dirty="0"/>
              <a:t>La utilizamos para ejecutar las líneas de código dentro de la función. La invocación de una función es igual a su retorno.</a:t>
            </a:r>
            <a:endParaRPr lang="es-AR" dirty="0"/>
          </a:p>
        </p:txBody>
      </p:sp>
      <p:sp>
        <p:nvSpPr>
          <p:cNvPr id="5" name="Marcador de texto 4">
            <a:extLst>
              <a:ext uri="{FF2B5EF4-FFF2-40B4-BE49-F238E27FC236}">
                <a16:creationId xmlns:a16="http://schemas.microsoft.com/office/drawing/2014/main" id="{DBB3B69C-4B9D-3334-19CC-6CF781B894F2}"/>
              </a:ext>
            </a:extLst>
          </p:cNvPr>
          <p:cNvSpPr>
            <a:spLocks noGrp="1"/>
          </p:cNvSpPr>
          <p:nvPr>
            <p:ph type="body" sz="quarter" idx="13"/>
          </p:nvPr>
        </p:nvSpPr>
        <p:spPr/>
        <p:txBody>
          <a:bodyPr/>
          <a:lstStyle/>
          <a:p>
            <a:r>
              <a:rPr lang="es-ES" dirty="0"/>
              <a:t>invocación</a:t>
            </a:r>
            <a:endParaRPr lang="es-AR" dirty="0"/>
          </a:p>
        </p:txBody>
      </p:sp>
      <p:sp>
        <p:nvSpPr>
          <p:cNvPr id="6" name="Título 5">
            <a:extLst>
              <a:ext uri="{FF2B5EF4-FFF2-40B4-BE49-F238E27FC236}">
                <a16:creationId xmlns:a16="http://schemas.microsoft.com/office/drawing/2014/main" id="{BF96F564-9691-1FE3-AD2F-2D7130B3F501}"/>
              </a:ext>
            </a:extLst>
          </p:cNvPr>
          <p:cNvSpPr>
            <a:spLocks noGrp="1"/>
          </p:cNvSpPr>
          <p:nvPr>
            <p:ph type="title"/>
          </p:nvPr>
        </p:nvSpPr>
        <p:spPr/>
        <p:txBody>
          <a:bodyPr/>
          <a:lstStyle/>
          <a:p>
            <a:r>
              <a:rPr lang="es-ES" dirty="0"/>
              <a:t>Diferencias invocación y definición</a:t>
            </a:r>
            <a:endParaRPr lang="es-AR" dirty="0"/>
          </a:p>
        </p:txBody>
      </p:sp>
      <p:pic>
        <p:nvPicPr>
          <p:cNvPr id="10" name="Imagen 9">
            <a:extLst>
              <a:ext uri="{FF2B5EF4-FFF2-40B4-BE49-F238E27FC236}">
                <a16:creationId xmlns:a16="http://schemas.microsoft.com/office/drawing/2014/main" id="{82C8B2FC-D724-0552-1791-ECC8C26B7DC2}"/>
              </a:ext>
            </a:extLst>
          </p:cNvPr>
          <p:cNvPicPr>
            <a:picLocks noChangeAspect="1"/>
          </p:cNvPicPr>
          <p:nvPr/>
        </p:nvPicPr>
        <p:blipFill>
          <a:blip r:embed="rId2"/>
          <a:stretch>
            <a:fillRect/>
          </a:stretch>
        </p:blipFill>
        <p:spPr>
          <a:xfrm>
            <a:off x="1808531" y="4473885"/>
            <a:ext cx="3820058" cy="1419423"/>
          </a:xfrm>
          <a:prstGeom prst="rect">
            <a:avLst/>
          </a:prstGeom>
          <a:ln>
            <a:noFill/>
          </a:ln>
          <a:effectLst>
            <a:outerShdw blurRad="292100" dist="139700" dir="2700000" algn="tl" rotWithShape="0">
              <a:srgbClr val="333333">
                <a:alpha val="65000"/>
              </a:srgbClr>
            </a:outerShdw>
          </a:effectLst>
        </p:spPr>
      </p:pic>
      <p:pic>
        <p:nvPicPr>
          <p:cNvPr id="12" name="Imagen 11">
            <a:extLst>
              <a:ext uri="{FF2B5EF4-FFF2-40B4-BE49-F238E27FC236}">
                <a16:creationId xmlns:a16="http://schemas.microsoft.com/office/drawing/2014/main" id="{CCECAC83-C0E8-72D4-49DA-0B27EE28C7C4}"/>
              </a:ext>
            </a:extLst>
          </p:cNvPr>
          <p:cNvPicPr>
            <a:picLocks noChangeAspect="1"/>
          </p:cNvPicPr>
          <p:nvPr/>
        </p:nvPicPr>
        <p:blipFill>
          <a:blip r:embed="rId3"/>
          <a:stretch>
            <a:fillRect/>
          </a:stretch>
        </p:blipFill>
        <p:spPr>
          <a:xfrm>
            <a:off x="6278765" y="4745385"/>
            <a:ext cx="4372585" cy="87642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55625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ED08F4-CABB-E7F1-1C1B-2B81EB5BE80F}"/>
              </a:ext>
            </a:extLst>
          </p:cNvPr>
          <p:cNvSpPr>
            <a:spLocks noGrp="1"/>
          </p:cNvSpPr>
          <p:nvPr>
            <p:ph type="ctrTitle"/>
          </p:nvPr>
        </p:nvSpPr>
        <p:spPr/>
        <p:txBody>
          <a:bodyPr/>
          <a:lstStyle/>
          <a:p>
            <a:r>
              <a:rPr lang="es-ES" dirty="0"/>
              <a:t>Estructuras de repetición</a:t>
            </a:r>
            <a:endParaRPr lang="es-AR" dirty="0"/>
          </a:p>
        </p:txBody>
      </p:sp>
      <p:sp>
        <p:nvSpPr>
          <p:cNvPr id="3" name="Subtítulo 2">
            <a:extLst>
              <a:ext uri="{FF2B5EF4-FFF2-40B4-BE49-F238E27FC236}">
                <a16:creationId xmlns:a16="http://schemas.microsoft.com/office/drawing/2014/main" id="{97A86903-A794-F2F8-38CB-1077146C6CB1}"/>
              </a:ext>
            </a:extLst>
          </p:cNvPr>
          <p:cNvSpPr>
            <a:spLocks noGrp="1"/>
          </p:cNvSpPr>
          <p:nvPr>
            <p:ph type="subTitle" idx="1"/>
          </p:nvPr>
        </p:nvSpPr>
        <p:spPr/>
        <p:txBody>
          <a:bodyPr>
            <a:normAutofit/>
          </a:bodyPr>
          <a:lstStyle/>
          <a:p>
            <a:r>
              <a:rPr lang="es-ES" dirty="0"/>
              <a:t>Loop </a:t>
            </a:r>
            <a:r>
              <a:rPr lang="es-ES" dirty="0" err="1"/>
              <a:t>for</a:t>
            </a:r>
            <a:br>
              <a:rPr lang="es-ES" dirty="0"/>
            </a:br>
            <a:r>
              <a:rPr lang="es-ES" dirty="0"/>
              <a:t>Loop while</a:t>
            </a:r>
            <a:br>
              <a:rPr lang="es-ES" dirty="0"/>
            </a:br>
            <a:r>
              <a:rPr lang="es-ES" dirty="0"/>
              <a:t>Loop do… while</a:t>
            </a:r>
          </a:p>
        </p:txBody>
      </p:sp>
    </p:spTree>
    <p:extLst>
      <p:ext uri="{BB962C8B-B14F-4D97-AF65-F5344CB8AC3E}">
        <p14:creationId xmlns:p14="http://schemas.microsoft.com/office/powerpoint/2010/main" val="951722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95C054-17B1-E1D9-ECBB-5CAB4DDD4AD6}"/>
              </a:ext>
            </a:extLst>
          </p:cNvPr>
          <p:cNvSpPr>
            <a:spLocks noGrp="1"/>
          </p:cNvSpPr>
          <p:nvPr>
            <p:ph type="title"/>
          </p:nvPr>
        </p:nvSpPr>
        <p:spPr>
          <a:xfrm>
            <a:off x="2231136" y="964692"/>
            <a:ext cx="7729728" cy="1188720"/>
          </a:xfrm>
        </p:spPr>
        <p:txBody>
          <a:bodyPr>
            <a:normAutofit/>
          </a:bodyPr>
          <a:lstStyle/>
          <a:p>
            <a:r>
              <a:rPr lang="es-ES" dirty="0"/>
              <a:t>Loop </a:t>
            </a:r>
            <a:r>
              <a:rPr lang="es-ES" dirty="0" err="1"/>
              <a:t>for</a:t>
            </a:r>
            <a:endParaRPr lang="es-AR" dirty="0"/>
          </a:p>
        </p:txBody>
      </p:sp>
      <p:sp>
        <p:nvSpPr>
          <p:cNvPr id="3" name="Marcador de contenido 2">
            <a:extLst>
              <a:ext uri="{FF2B5EF4-FFF2-40B4-BE49-F238E27FC236}">
                <a16:creationId xmlns:a16="http://schemas.microsoft.com/office/drawing/2014/main" id="{7058146C-03C2-7864-61CB-8D2FF8554101}"/>
              </a:ext>
            </a:extLst>
          </p:cNvPr>
          <p:cNvSpPr>
            <a:spLocks noGrp="1"/>
          </p:cNvSpPr>
          <p:nvPr>
            <p:ph idx="1"/>
          </p:nvPr>
        </p:nvSpPr>
        <p:spPr>
          <a:xfrm>
            <a:off x="2221993" y="2316497"/>
            <a:ext cx="3631692" cy="4541503"/>
          </a:xfrm>
        </p:spPr>
        <p:txBody>
          <a:bodyPr>
            <a:normAutofit/>
          </a:bodyPr>
          <a:lstStyle/>
          <a:p>
            <a:pPr>
              <a:lnSpc>
                <a:spcPct val="90000"/>
              </a:lnSpc>
            </a:pPr>
            <a:r>
              <a:rPr lang="es-ES" sz="1500" b="1" dirty="0"/>
              <a:t>¿Qué es?</a:t>
            </a:r>
            <a:br>
              <a:rPr lang="es-ES" sz="1500" dirty="0"/>
            </a:br>
            <a:r>
              <a:rPr lang="es-ES" sz="1500" dirty="0"/>
              <a:t>Un loop </a:t>
            </a:r>
            <a:r>
              <a:rPr lang="es-ES" sz="1500" i="1" dirty="0"/>
              <a:t>“</a:t>
            </a:r>
            <a:r>
              <a:rPr lang="es-ES" sz="1500" i="1" dirty="0" err="1"/>
              <a:t>for</a:t>
            </a:r>
            <a:r>
              <a:rPr lang="es-ES" sz="1500" i="1" dirty="0"/>
              <a:t>”</a:t>
            </a:r>
            <a:r>
              <a:rPr lang="es-ES" sz="1500" dirty="0"/>
              <a:t> es un bucle que se repite un número </a:t>
            </a:r>
            <a:r>
              <a:rPr lang="es-ES" sz="1500" b="1" dirty="0"/>
              <a:t>específico </a:t>
            </a:r>
            <a:r>
              <a:rPr lang="es-ES" sz="1500" dirty="0"/>
              <a:t>de veces.</a:t>
            </a:r>
            <a:br>
              <a:rPr lang="es-ES" sz="1500" dirty="0"/>
            </a:br>
            <a:r>
              <a:rPr lang="es-ES" sz="1500" dirty="0"/>
              <a:t>Ideal cuando sabemos cuántas veces queremos que algo suceda. Su componente principal es </a:t>
            </a:r>
            <a:r>
              <a:rPr lang="es-ES" sz="1500" b="1" i="1" dirty="0"/>
              <a:t>una variable de control</a:t>
            </a:r>
            <a:r>
              <a:rPr lang="es-ES" sz="1500" b="1" dirty="0"/>
              <a:t>.</a:t>
            </a:r>
            <a:endParaRPr lang="es-ES" sz="1500" dirty="0"/>
          </a:p>
          <a:p>
            <a:pPr>
              <a:lnSpc>
                <a:spcPct val="90000"/>
              </a:lnSpc>
            </a:pPr>
            <a:r>
              <a:rPr lang="es-ES" sz="1500" b="1" dirty="0"/>
              <a:t>Inicialización</a:t>
            </a:r>
            <a:br>
              <a:rPr lang="es-ES" sz="1500" dirty="0"/>
            </a:br>
            <a:r>
              <a:rPr lang="es-ES" sz="1500" dirty="0"/>
              <a:t>Inicializamos la variable de control utilizando SIEMPRE la declaración </a:t>
            </a:r>
            <a:r>
              <a:rPr lang="es-ES" sz="1500" i="1" dirty="0"/>
              <a:t>“let”</a:t>
            </a:r>
            <a:endParaRPr lang="es-ES" sz="1500" b="1" dirty="0"/>
          </a:p>
          <a:p>
            <a:pPr>
              <a:lnSpc>
                <a:spcPct val="90000"/>
              </a:lnSpc>
            </a:pPr>
            <a:r>
              <a:rPr lang="es-ES" sz="1500" b="1" dirty="0"/>
              <a:t>Condición</a:t>
            </a:r>
            <a:br>
              <a:rPr lang="es-ES" sz="1500" b="1" dirty="0"/>
            </a:br>
            <a:r>
              <a:rPr lang="es-ES" sz="1500" dirty="0"/>
              <a:t>Comparamos si la variable de control es mayor o menor a un cierto número. El bucle se detiene cuando es True.</a:t>
            </a:r>
          </a:p>
          <a:p>
            <a:pPr>
              <a:lnSpc>
                <a:spcPct val="90000"/>
              </a:lnSpc>
            </a:pPr>
            <a:r>
              <a:rPr lang="es-ES" sz="1500" b="1" dirty="0"/>
              <a:t>Actualización</a:t>
            </a:r>
            <a:br>
              <a:rPr lang="es-ES" sz="1500" b="1" dirty="0"/>
            </a:br>
            <a:r>
              <a:rPr lang="es-ES" sz="1500" dirty="0"/>
              <a:t>Le sumamos o restamos un cierto valor a la variable de control</a:t>
            </a:r>
            <a:endParaRPr lang="es-AR" sz="1500" b="1" dirty="0"/>
          </a:p>
        </p:txBody>
      </p:sp>
      <p:pic>
        <p:nvPicPr>
          <p:cNvPr id="5" name="Imagen 4">
            <a:extLst>
              <a:ext uri="{FF2B5EF4-FFF2-40B4-BE49-F238E27FC236}">
                <a16:creationId xmlns:a16="http://schemas.microsoft.com/office/drawing/2014/main" id="{19AA1248-032C-B667-EC77-1A7062E445F6}"/>
              </a:ext>
            </a:extLst>
          </p:cNvPr>
          <p:cNvPicPr>
            <a:picLocks noChangeAspect="1"/>
          </p:cNvPicPr>
          <p:nvPr/>
        </p:nvPicPr>
        <p:blipFill>
          <a:blip r:embed="rId2"/>
          <a:stretch>
            <a:fillRect/>
          </a:stretch>
        </p:blipFill>
        <p:spPr>
          <a:xfrm>
            <a:off x="6338317" y="2316497"/>
            <a:ext cx="4808504" cy="1188719"/>
          </a:xfrm>
          <a:prstGeom prst="rect">
            <a:avLst/>
          </a:prstGeom>
          <a:ln>
            <a:noFill/>
          </a:ln>
          <a:effectLst>
            <a:outerShdw blurRad="292100" dist="139700" dir="2700000" algn="tl" rotWithShape="0">
              <a:srgbClr val="333333">
                <a:alpha val="65000"/>
              </a:srgbClr>
            </a:outerShdw>
          </a:effectLst>
        </p:spPr>
      </p:pic>
      <p:pic>
        <p:nvPicPr>
          <p:cNvPr id="7" name="Imagen 6">
            <a:extLst>
              <a:ext uri="{FF2B5EF4-FFF2-40B4-BE49-F238E27FC236}">
                <a16:creationId xmlns:a16="http://schemas.microsoft.com/office/drawing/2014/main" id="{9FC449D0-B144-CC1F-4295-8CB0E4B14376}"/>
              </a:ext>
            </a:extLst>
          </p:cNvPr>
          <p:cNvPicPr>
            <a:picLocks noChangeAspect="1"/>
          </p:cNvPicPr>
          <p:nvPr/>
        </p:nvPicPr>
        <p:blipFill>
          <a:blip r:embed="rId3"/>
          <a:stretch>
            <a:fillRect/>
          </a:stretch>
        </p:blipFill>
        <p:spPr>
          <a:xfrm>
            <a:off x="6338317" y="3668301"/>
            <a:ext cx="3534268" cy="1314633"/>
          </a:xfrm>
          <a:prstGeom prst="rect">
            <a:avLst/>
          </a:prstGeom>
          <a:ln>
            <a:noFill/>
          </a:ln>
          <a:effectLst>
            <a:outerShdw blurRad="292100" dist="139700" dir="2700000" algn="tl" rotWithShape="0">
              <a:srgbClr val="333333">
                <a:alpha val="65000"/>
              </a:srgbClr>
            </a:outerShdw>
          </a:effectLst>
        </p:spPr>
      </p:pic>
      <p:pic>
        <p:nvPicPr>
          <p:cNvPr id="11" name="Imagen 10">
            <a:extLst>
              <a:ext uri="{FF2B5EF4-FFF2-40B4-BE49-F238E27FC236}">
                <a16:creationId xmlns:a16="http://schemas.microsoft.com/office/drawing/2014/main" id="{CE63014F-2366-8040-EC9C-F5192F52656F}"/>
              </a:ext>
            </a:extLst>
          </p:cNvPr>
          <p:cNvPicPr>
            <a:picLocks noChangeAspect="1"/>
          </p:cNvPicPr>
          <p:nvPr/>
        </p:nvPicPr>
        <p:blipFill>
          <a:blip r:embed="rId4"/>
          <a:stretch>
            <a:fillRect/>
          </a:stretch>
        </p:blipFill>
        <p:spPr>
          <a:xfrm>
            <a:off x="6338317" y="5146019"/>
            <a:ext cx="2915057" cy="120984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170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C7A1BF-7167-4A68-E609-1FDEEC4637D5}"/>
              </a:ext>
            </a:extLst>
          </p:cNvPr>
          <p:cNvSpPr>
            <a:spLocks noGrp="1"/>
          </p:cNvSpPr>
          <p:nvPr>
            <p:ph type="title"/>
          </p:nvPr>
        </p:nvSpPr>
        <p:spPr/>
        <p:txBody>
          <a:bodyPr/>
          <a:lstStyle/>
          <a:p>
            <a:r>
              <a:rPr lang="es-ES" dirty="0"/>
              <a:t>Loop while</a:t>
            </a:r>
            <a:endParaRPr lang="es-AR" dirty="0"/>
          </a:p>
        </p:txBody>
      </p:sp>
      <p:sp>
        <p:nvSpPr>
          <p:cNvPr id="3" name="Marcador de contenido 2">
            <a:extLst>
              <a:ext uri="{FF2B5EF4-FFF2-40B4-BE49-F238E27FC236}">
                <a16:creationId xmlns:a16="http://schemas.microsoft.com/office/drawing/2014/main" id="{C99CE89C-FBBF-9DA4-71E7-1054E855897D}"/>
              </a:ext>
            </a:extLst>
          </p:cNvPr>
          <p:cNvSpPr>
            <a:spLocks noGrp="1"/>
          </p:cNvSpPr>
          <p:nvPr>
            <p:ph idx="1"/>
          </p:nvPr>
        </p:nvSpPr>
        <p:spPr/>
        <p:txBody>
          <a:bodyPr/>
          <a:lstStyle/>
          <a:p>
            <a:r>
              <a:rPr lang="es-ES" b="1" dirty="0"/>
              <a:t>¿Qué es?</a:t>
            </a:r>
            <a:br>
              <a:rPr lang="es-ES" b="1" dirty="0"/>
            </a:br>
            <a:r>
              <a:rPr lang="es-ES" dirty="0"/>
              <a:t>Es un loop que se repite </a:t>
            </a:r>
            <a:r>
              <a:rPr lang="es-ES" b="1" u="sng" dirty="0"/>
              <a:t>siempre que una condición sea verdadera</a:t>
            </a:r>
            <a:r>
              <a:rPr lang="es-ES" dirty="0"/>
              <a:t>.</a:t>
            </a:r>
            <a:br>
              <a:rPr lang="es-ES" dirty="0"/>
            </a:br>
            <a:r>
              <a:rPr lang="es-ES" dirty="0"/>
              <a:t>No sabemos necesariamente cuántas veces se va a repetir.</a:t>
            </a:r>
            <a:br>
              <a:rPr lang="es-ES" dirty="0"/>
            </a:br>
            <a:r>
              <a:rPr lang="es-ES" dirty="0"/>
              <a:t>Es muy fácil crear accidentalmente bucles infinitos.</a:t>
            </a:r>
            <a:br>
              <a:rPr lang="es-ES" b="1" dirty="0"/>
            </a:br>
            <a:endParaRPr lang="es-AR" b="1" dirty="0"/>
          </a:p>
        </p:txBody>
      </p:sp>
      <p:pic>
        <p:nvPicPr>
          <p:cNvPr id="5" name="Imagen 4">
            <a:extLst>
              <a:ext uri="{FF2B5EF4-FFF2-40B4-BE49-F238E27FC236}">
                <a16:creationId xmlns:a16="http://schemas.microsoft.com/office/drawing/2014/main" id="{FB38C5E6-01DF-4BB5-F886-4C2963FA19C4}"/>
              </a:ext>
            </a:extLst>
          </p:cNvPr>
          <p:cNvPicPr>
            <a:picLocks noChangeAspect="1"/>
          </p:cNvPicPr>
          <p:nvPr/>
        </p:nvPicPr>
        <p:blipFill>
          <a:blip r:embed="rId2"/>
          <a:stretch>
            <a:fillRect/>
          </a:stretch>
        </p:blipFill>
        <p:spPr>
          <a:xfrm>
            <a:off x="2598164" y="4047589"/>
            <a:ext cx="3094904" cy="1352739"/>
          </a:xfrm>
          <a:prstGeom prst="rect">
            <a:avLst/>
          </a:prstGeom>
          <a:ln>
            <a:noFill/>
          </a:ln>
          <a:effectLst>
            <a:outerShdw blurRad="292100" dist="139700" dir="2700000" algn="tl" rotWithShape="0">
              <a:srgbClr val="333333">
                <a:alpha val="65000"/>
              </a:srgbClr>
            </a:outerShdw>
          </a:effectLst>
        </p:spPr>
      </p:pic>
      <p:pic>
        <p:nvPicPr>
          <p:cNvPr id="7" name="Imagen 6">
            <a:extLst>
              <a:ext uri="{FF2B5EF4-FFF2-40B4-BE49-F238E27FC236}">
                <a16:creationId xmlns:a16="http://schemas.microsoft.com/office/drawing/2014/main" id="{9FFF610B-A93B-EE11-F00E-739417EA3A0A}"/>
              </a:ext>
            </a:extLst>
          </p:cNvPr>
          <p:cNvPicPr>
            <a:picLocks noChangeAspect="1"/>
          </p:cNvPicPr>
          <p:nvPr/>
        </p:nvPicPr>
        <p:blipFill>
          <a:blip r:embed="rId3"/>
          <a:stretch>
            <a:fillRect/>
          </a:stretch>
        </p:blipFill>
        <p:spPr>
          <a:xfrm>
            <a:off x="6498934" y="4047589"/>
            <a:ext cx="4267796" cy="135273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70880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D13486-2C3C-BFDD-58EC-96D78F8DDB19}"/>
              </a:ext>
            </a:extLst>
          </p:cNvPr>
          <p:cNvSpPr>
            <a:spLocks noGrp="1"/>
          </p:cNvSpPr>
          <p:nvPr>
            <p:ph type="title"/>
          </p:nvPr>
        </p:nvSpPr>
        <p:spPr/>
        <p:txBody>
          <a:bodyPr/>
          <a:lstStyle/>
          <a:p>
            <a:r>
              <a:rPr lang="es-ES" dirty="0"/>
              <a:t>Loop do… while</a:t>
            </a:r>
            <a:endParaRPr lang="es-AR" dirty="0"/>
          </a:p>
        </p:txBody>
      </p:sp>
      <p:sp>
        <p:nvSpPr>
          <p:cNvPr id="3" name="Marcador de contenido 2">
            <a:extLst>
              <a:ext uri="{FF2B5EF4-FFF2-40B4-BE49-F238E27FC236}">
                <a16:creationId xmlns:a16="http://schemas.microsoft.com/office/drawing/2014/main" id="{80FA0C4A-50DE-6F0C-B5EE-97DFEB33BE8B}"/>
              </a:ext>
            </a:extLst>
          </p:cNvPr>
          <p:cNvSpPr>
            <a:spLocks noGrp="1"/>
          </p:cNvSpPr>
          <p:nvPr>
            <p:ph idx="1"/>
          </p:nvPr>
        </p:nvSpPr>
        <p:spPr/>
        <p:txBody>
          <a:bodyPr/>
          <a:lstStyle/>
          <a:p>
            <a:r>
              <a:rPr lang="es-ES" b="1" dirty="0"/>
              <a:t>¿Qué es?</a:t>
            </a:r>
            <a:br>
              <a:rPr lang="es-ES" b="1" dirty="0"/>
            </a:br>
            <a:r>
              <a:rPr lang="es-ES" dirty="0"/>
              <a:t>Es otra forma de escribir el loop while, funcionando de la misma manera.</a:t>
            </a:r>
            <a:br>
              <a:rPr lang="es-ES" dirty="0"/>
            </a:br>
            <a:r>
              <a:rPr lang="es-ES" dirty="0"/>
              <a:t>La diferencia es que se verifica si la condición es verdadera </a:t>
            </a:r>
            <a:r>
              <a:rPr lang="es-ES" b="1" i="1" dirty="0"/>
              <a:t>después</a:t>
            </a:r>
            <a:r>
              <a:rPr lang="es-ES" dirty="0"/>
              <a:t> de ejecutar el bloque de código, a diferencia de antes.</a:t>
            </a:r>
            <a:endParaRPr lang="es-AR" b="1" dirty="0"/>
          </a:p>
        </p:txBody>
      </p:sp>
      <p:pic>
        <p:nvPicPr>
          <p:cNvPr id="5" name="Imagen 4">
            <a:extLst>
              <a:ext uri="{FF2B5EF4-FFF2-40B4-BE49-F238E27FC236}">
                <a16:creationId xmlns:a16="http://schemas.microsoft.com/office/drawing/2014/main" id="{FBE7B184-E7C4-F077-2E59-2D4D0610454E}"/>
              </a:ext>
            </a:extLst>
          </p:cNvPr>
          <p:cNvPicPr>
            <a:picLocks noChangeAspect="1"/>
          </p:cNvPicPr>
          <p:nvPr/>
        </p:nvPicPr>
        <p:blipFill>
          <a:blip r:embed="rId2"/>
          <a:stretch>
            <a:fillRect/>
          </a:stretch>
        </p:blipFill>
        <p:spPr>
          <a:xfrm>
            <a:off x="2585227" y="4189035"/>
            <a:ext cx="3510774" cy="1550992"/>
          </a:xfrm>
          <a:prstGeom prst="rect">
            <a:avLst/>
          </a:prstGeom>
          <a:ln>
            <a:noFill/>
          </a:ln>
          <a:effectLst>
            <a:outerShdw blurRad="292100" dist="139700" dir="2700000" algn="tl" rotWithShape="0">
              <a:srgbClr val="333333">
                <a:alpha val="65000"/>
              </a:srgbClr>
            </a:outerShdw>
          </a:effectLst>
        </p:spPr>
      </p:pic>
      <p:pic>
        <p:nvPicPr>
          <p:cNvPr id="7" name="Imagen 6">
            <a:extLst>
              <a:ext uri="{FF2B5EF4-FFF2-40B4-BE49-F238E27FC236}">
                <a16:creationId xmlns:a16="http://schemas.microsoft.com/office/drawing/2014/main" id="{CD3A22E9-2F1D-9E68-364A-A6493F2DE1B8}"/>
              </a:ext>
            </a:extLst>
          </p:cNvPr>
          <p:cNvPicPr>
            <a:picLocks noChangeAspect="1"/>
          </p:cNvPicPr>
          <p:nvPr/>
        </p:nvPicPr>
        <p:blipFill>
          <a:blip r:embed="rId3"/>
          <a:stretch>
            <a:fillRect/>
          </a:stretch>
        </p:blipFill>
        <p:spPr>
          <a:xfrm>
            <a:off x="7061191" y="4189035"/>
            <a:ext cx="2545582" cy="235614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98376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D586E3-5441-4EBC-A4AC-4226D3030988}"/>
              </a:ext>
            </a:extLst>
          </p:cNvPr>
          <p:cNvSpPr>
            <a:spLocks noGrp="1"/>
          </p:cNvSpPr>
          <p:nvPr>
            <p:ph type="ctrTitle"/>
          </p:nvPr>
        </p:nvSpPr>
        <p:spPr/>
        <p:txBody>
          <a:bodyPr/>
          <a:lstStyle/>
          <a:p>
            <a:r>
              <a:rPr lang="es-ES" dirty="0"/>
              <a:t>Objetos</a:t>
            </a:r>
            <a:endParaRPr lang="es-AR" dirty="0"/>
          </a:p>
        </p:txBody>
      </p:sp>
      <p:sp>
        <p:nvSpPr>
          <p:cNvPr id="3" name="Subtítulo 2">
            <a:extLst>
              <a:ext uri="{FF2B5EF4-FFF2-40B4-BE49-F238E27FC236}">
                <a16:creationId xmlns:a16="http://schemas.microsoft.com/office/drawing/2014/main" id="{A17076CE-EDE4-DEE4-4013-47FD9D475BF5}"/>
              </a:ext>
            </a:extLst>
          </p:cNvPr>
          <p:cNvSpPr>
            <a:spLocks noGrp="1"/>
          </p:cNvSpPr>
          <p:nvPr>
            <p:ph type="subTitle" idx="1"/>
          </p:nvPr>
        </p:nvSpPr>
        <p:spPr>
          <a:xfrm>
            <a:off x="2695194" y="4352543"/>
            <a:ext cx="6801612" cy="2166243"/>
          </a:xfrm>
        </p:spPr>
        <p:txBody>
          <a:bodyPr>
            <a:normAutofit/>
          </a:bodyPr>
          <a:lstStyle/>
          <a:p>
            <a:r>
              <a:rPr lang="es-ES" dirty="0"/>
              <a:t>Un objeto en JavaScript es una colección de datos (y métodos) que usa el </a:t>
            </a:r>
            <a:r>
              <a:rPr lang="es-ES" b="1" dirty="0">
                <a:effectLst>
                  <a:outerShdw blurRad="38100" dist="38100" dir="2700000" algn="tl">
                    <a:srgbClr val="000000">
                      <a:alpha val="43137"/>
                    </a:srgbClr>
                  </a:outerShdw>
                </a:effectLst>
              </a:rPr>
              <a:t>sistema </a:t>
            </a:r>
            <a:r>
              <a:rPr lang="es-ES" b="1" dirty="0" err="1">
                <a:effectLst>
                  <a:outerShdw blurRad="38100" dist="38100" dir="2700000" algn="tl">
                    <a:srgbClr val="000000">
                      <a:alpha val="43137"/>
                    </a:srgbClr>
                  </a:outerShdw>
                </a:effectLst>
              </a:rPr>
              <a:t>clave:valor</a:t>
            </a:r>
            <a:endParaRPr lang="es-ES" b="1" dirty="0">
              <a:effectLst>
                <a:outerShdw blurRad="38100" dist="38100" dir="2700000" algn="tl">
                  <a:srgbClr val="000000">
                    <a:alpha val="43137"/>
                  </a:srgbClr>
                </a:outerShdw>
              </a:effectLst>
            </a:endParaRPr>
          </a:p>
          <a:p>
            <a:r>
              <a:rPr lang="es-ES" dirty="0"/>
              <a:t>Los datos pueden ser de </a:t>
            </a:r>
            <a:r>
              <a:rPr lang="es-ES" b="1" i="1" u="sng" dirty="0"/>
              <a:t>CUALQUIER</a:t>
            </a:r>
            <a:r>
              <a:rPr lang="es-ES" dirty="0"/>
              <a:t> tipo.</a:t>
            </a:r>
            <a:br>
              <a:rPr lang="es-ES" dirty="0"/>
            </a:br>
            <a:r>
              <a:rPr lang="es-AR" dirty="0"/>
              <a:t>Un objeto en sí, también es un tipo de dato.</a:t>
            </a:r>
          </a:p>
          <a:p>
            <a:endParaRPr lang="es-AR" dirty="0"/>
          </a:p>
        </p:txBody>
      </p:sp>
    </p:spTree>
    <p:extLst>
      <p:ext uri="{BB962C8B-B14F-4D97-AF65-F5344CB8AC3E}">
        <p14:creationId xmlns:p14="http://schemas.microsoft.com/office/powerpoint/2010/main" val="3026269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02239A8-F339-9656-7C51-D310592B000B}"/>
              </a:ext>
            </a:extLst>
          </p:cNvPr>
          <p:cNvSpPr>
            <a:spLocks noGrp="1"/>
          </p:cNvSpPr>
          <p:nvPr>
            <p:ph type="title"/>
          </p:nvPr>
        </p:nvSpPr>
        <p:spPr>
          <a:xfrm>
            <a:off x="643467" y="643467"/>
            <a:ext cx="3363974" cy="1728044"/>
          </a:xfrm>
          <a:noFill/>
          <a:ln>
            <a:solidFill>
              <a:schemeClr val="bg1"/>
            </a:solidFill>
          </a:ln>
        </p:spPr>
        <p:txBody>
          <a:bodyPr vert="horz" wrap="square" lIns="182880" tIns="182880" rIns="182880" bIns="182880" rtlCol="0" anchor="ctr">
            <a:normAutofit/>
          </a:bodyPr>
          <a:lstStyle/>
          <a:p>
            <a:r>
              <a:rPr lang="en-US" dirty="0">
                <a:solidFill>
                  <a:schemeClr val="bg1"/>
                </a:solidFill>
              </a:rPr>
              <a:t>¿Cómo </a:t>
            </a:r>
            <a:r>
              <a:rPr lang="en-US" dirty="0" err="1">
                <a:solidFill>
                  <a:schemeClr val="bg1"/>
                </a:solidFill>
              </a:rPr>
              <a:t>defino</a:t>
            </a:r>
            <a:r>
              <a:rPr lang="en-US" dirty="0">
                <a:solidFill>
                  <a:schemeClr val="bg1"/>
                </a:solidFill>
              </a:rPr>
              <a:t> a un </a:t>
            </a:r>
            <a:r>
              <a:rPr lang="en-US" dirty="0" err="1">
                <a:solidFill>
                  <a:schemeClr val="bg1"/>
                </a:solidFill>
              </a:rPr>
              <a:t>objeto</a:t>
            </a:r>
            <a:r>
              <a:rPr lang="en-US" dirty="0">
                <a:solidFill>
                  <a:schemeClr val="bg1"/>
                </a:solidFill>
              </a:rPr>
              <a:t>?</a:t>
            </a:r>
          </a:p>
        </p:txBody>
      </p:sp>
      <p:sp>
        <p:nvSpPr>
          <p:cNvPr id="3" name="Marcador de contenido 2">
            <a:extLst>
              <a:ext uri="{FF2B5EF4-FFF2-40B4-BE49-F238E27FC236}">
                <a16:creationId xmlns:a16="http://schemas.microsoft.com/office/drawing/2014/main" id="{EEF7710A-BCF0-3BF7-5C67-282B3C8D9605}"/>
              </a:ext>
            </a:extLst>
          </p:cNvPr>
          <p:cNvSpPr>
            <a:spLocks noGrp="1"/>
          </p:cNvSpPr>
          <p:nvPr>
            <p:ph sz="half" idx="1"/>
          </p:nvPr>
        </p:nvSpPr>
        <p:spPr>
          <a:xfrm>
            <a:off x="643468" y="2638044"/>
            <a:ext cx="3363974" cy="3415622"/>
          </a:xfrm>
        </p:spPr>
        <p:txBody>
          <a:bodyPr vert="horz" lIns="91440" tIns="45720" rIns="91440" bIns="45720" rtlCol="0">
            <a:normAutofit/>
          </a:bodyPr>
          <a:lstStyle/>
          <a:p>
            <a:pPr>
              <a:lnSpc>
                <a:spcPct val="90000"/>
              </a:lnSpc>
            </a:pPr>
            <a:r>
              <a:rPr lang="en-US" sz="1500">
                <a:solidFill>
                  <a:schemeClr val="bg1"/>
                </a:solidFill>
              </a:rPr>
              <a:t>Un objeto en Javascript es un tipo de dato como cualquier otro que puede ser asignado a una variable, pasado como parámetro, guardado en un array o retornado desde una función.</a:t>
            </a:r>
          </a:p>
          <a:p>
            <a:pPr>
              <a:lnSpc>
                <a:spcPct val="90000"/>
              </a:lnSpc>
            </a:pPr>
            <a:r>
              <a:rPr lang="en-US" sz="1500">
                <a:solidFill>
                  <a:schemeClr val="bg1"/>
                </a:solidFill>
              </a:rPr>
              <a:t>Se caracterizan por estar definidos entre llaves y tener duplas de </a:t>
            </a:r>
            <a:r>
              <a:rPr lang="en-US" sz="1500" b="1">
                <a:solidFill>
                  <a:schemeClr val="bg1"/>
                </a:solidFill>
              </a:rPr>
              <a:t>clave: valor </a:t>
            </a:r>
            <a:r>
              <a:rPr lang="en-US" sz="1500">
                <a:solidFill>
                  <a:schemeClr val="bg1"/>
                </a:solidFill>
              </a:rPr>
              <a:t>separadas por comas.</a:t>
            </a:r>
          </a:p>
          <a:p>
            <a:pPr>
              <a:lnSpc>
                <a:spcPct val="90000"/>
              </a:lnSpc>
            </a:pPr>
            <a:r>
              <a:rPr lang="en-US" sz="1500">
                <a:solidFill>
                  <a:schemeClr val="bg1"/>
                </a:solidFill>
              </a:rPr>
              <a:t>No confundir con cualquier tipo de función en algún retorno o asignación.</a:t>
            </a:r>
            <a:br>
              <a:rPr lang="en-US" sz="1500">
                <a:solidFill>
                  <a:schemeClr val="bg1"/>
                </a:solidFill>
              </a:rPr>
            </a:br>
            <a:br>
              <a:rPr lang="en-US" sz="1500">
                <a:solidFill>
                  <a:schemeClr val="bg1"/>
                </a:solidFill>
              </a:rPr>
            </a:br>
            <a:r>
              <a:rPr lang="en-US" sz="1500">
                <a:solidFill>
                  <a:schemeClr val="bg1"/>
                </a:solidFill>
              </a:rPr>
              <a:t>{ }          Es un </a:t>
            </a:r>
            <a:r>
              <a:rPr lang="en-US" sz="1500" b="1">
                <a:solidFill>
                  <a:schemeClr val="bg1"/>
                </a:solidFill>
              </a:rPr>
              <a:t>Objeto</a:t>
            </a:r>
            <a:br>
              <a:rPr lang="en-US" sz="1500">
                <a:solidFill>
                  <a:schemeClr val="bg1"/>
                </a:solidFill>
              </a:rPr>
            </a:br>
            <a:r>
              <a:rPr lang="en-US" sz="1500">
                <a:solidFill>
                  <a:schemeClr val="bg1"/>
                </a:solidFill>
              </a:rPr>
              <a:t>() =&gt; {}   Es una </a:t>
            </a:r>
            <a:r>
              <a:rPr lang="en-US" sz="1500" b="1">
                <a:solidFill>
                  <a:schemeClr val="bg1"/>
                </a:solidFill>
              </a:rPr>
              <a:t>Función</a:t>
            </a:r>
          </a:p>
        </p:txBody>
      </p:sp>
      <p:pic>
        <p:nvPicPr>
          <p:cNvPr id="12" name="Imagen 11">
            <a:extLst>
              <a:ext uri="{FF2B5EF4-FFF2-40B4-BE49-F238E27FC236}">
                <a16:creationId xmlns:a16="http://schemas.microsoft.com/office/drawing/2014/main" id="{4122AA88-7004-AD0B-1D1E-A813B7B1622E}"/>
              </a:ext>
            </a:extLst>
          </p:cNvPr>
          <p:cNvPicPr>
            <a:picLocks noChangeAspect="1"/>
          </p:cNvPicPr>
          <p:nvPr/>
        </p:nvPicPr>
        <p:blipFill>
          <a:blip r:embed="rId2"/>
          <a:stretch>
            <a:fillRect/>
          </a:stretch>
        </p:blipFill>
        <p:spPr>
          <a:xfrm>
            <a:off x="5073445" y="1871823"/>
            <a:ext cx="6475087" cy="2953487"/>
          </a:xfrm>
          <a:prstGeom prst="rect">
            <a:avLst/>
          </a:prstGeom>
        </p:spPr>
      </p:pic>
    </p:spTree>
    <p:extLst>
      <p:ext uri="{BB962C8B-B14F-4D97-AF65-F5344CB8AC3E}">
        <p14:creationId xmlns:p14="http://schemas.microsoft.com/office/powerpoint/2010/main" val="299629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E0FCCA-4FED-07FA-60CA-A98D4221F414}"/>
              </a:ext>
            </a:extLst>
          </p:cNvPr>
          <p:cNvSpPr>
            <a:spLocks noGrp="1"/>
          </p:cNvSpPr>
          <p:nvPr>
            <p:ph type="title"/>
          </p:nvPr>
        </p:nvSpPr>
        <p:spPr>
          <a:xfrm>
            <a:off x="2231136" y="640227"/>
            <a:ext cx="7729728" cy="1188720"/>
          </a:xfrm>
        </p:spPr>
        <p:txBody>
          <a:bodyPr/>
          <a:lstStyle/>
          <a:p>
            <a:r>
              <a:rPr lang="es-ES"/>
              <a:t>Alternativamente, se puede definir a pedro y pancho así</a:t>
            </a:r>
            <a:endParaRPr lang="es-AR" dirty="0"/>
          </a:p>
        </p:txBody>
      </p:sp>
      <p:pic>
        <p:nvPicPr>
          <p:cNvPr id="6" name="Imagen 5">
            <a:extLst>
              <a:ext uri="{FF2B5EF4-FFF2-40B4-BE49-F238E27FC236}">
                <a16:creationId xmlns:a16="http://schemas.microsoft.com/office/drawing/2014/main" id="{EAA58DC0-A2D1-AF4E-6F64-C294D37EC9DC}"/>
              </a:ext>
            </a:extLst>
          </p:cNvPr>
          <p:cNvPicPr>
            <a:picLocks noChangeAspect="1"/>
          </p:cNvPicPr>
          <p:nvPr/>
        </p:nvPicPr>
        <p:blipFill>
          <a:blip r:embed="rId2"/>
          <a:stretch>
            <a:fillRect/>
          </a:stretch>
        </p:blipFill>
        <p:spPr>
          <a:xfrm>
            <a:off x="1909178" y="2176772"/>
            <a:ext cx="8373644" cy="437258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8796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6746C1C-41E0-2282-4907-CC555D9C8D0A}"/>
              </a:ext>
            </a:extLst>
          </p:cNvPr>
          <p:cNvSpPr>
            <a:spLocks noGrp="1"/>
          </p:cNvSpPr>
          <p:nvPr>
            <p:ph type="title"/>
          </p:nvPr>
        </p:nvSpPr>
        <p:spPr>
          <a:xfrm>
            <a:off x="643467" y="643467"/>
            <a:ext cx="3363974" cy="1728044"/>
          </a:xfrm>
          <a:noFill/>
          <a:ln>
            <a:solidFill>
              <a:schemeClr val="bg1"/>
            </a:solidFill>
          </a:ln>
        </p:spPr>
        <p:txBody>
          <a:bodyPr vert="horz" wrap="square" lIns="182880" tIns="182880" rIns="182880" bIns="182880" rtlCol="0" anchor="ctr">
            <a:normAutofit/>
          </a:bodyPr>
          <a:lstStyle/>
          <a:p>
            <a:r>
              <a:rPr lang="en-US" sz="2600" dirty="0">
                <a:solidFill>
                  <a:schemeClr val="bg1"/>
                </a:solidFill>
              </a:rPr>
              <a:t>¿Cómo </a:t>
            </a:r>
            <a:r>
              <a:rPr lang="en-US" sz="2600" dirty="0" err="1">
                <a:solidFill>
                  <a:schemeClr val="bg1"/>
                </a:solidFill>
              </a:rPr>
              <a:t>accedo</a:t>
            </a:r>
            <a:r>
              <a:rPr lang="en-US" sz="2600" dirty="0">
                <a:solidFill>
                  <a:schemeClr val="bg1"/>
                </a:solidFill>
              </a:rPr>
              <a:t> a </a:t>
            </a:r>
            <a:r>
              <a:rPr lang="en-US" sz="2600" dirty="0" err="1">
                <a:solidFill>
                  <a:schemeClr val="bg1"/>
                </a:solidFill>
              </a:rPr>
              <a:t>los</a:t>
            </a:r>
            <a:r>
              <a:rPr lang="en-US" sz="2600" dirty="0">
                <a:solidFill>
                  <a:schemeClr val="bg1"/>
                </a:solidFill>
              </a:rPr>
              <a:t> </a:t>
            </a:r>
            <a:r>
              <a:rPr lang="en-US" sz="2600" dirty="0" err="1">
                <a:solidFill>
                  <a:schemeClr val="bg1"/>
                </a:solidFill>
              </a:rPr>
              <a:t>valores</a:t>
            </a:r>
            <a:r>
              <a:rPr lang="en-US" sz="2600" dirty="0">
                <a:solidFill>
                  <a:schemeClr val="bg1"/>
                </a:solidFill>
              </a:rPr>
              <a:t> de un </a:t>
            </a:r>
            <a:r>
              <a:rPr lang="en-US" sz="2600" dirty="0" err="1">
                <a:solidFill>
                  <a:schemeClr val="bg1"/>
                </a:solidFill>
              </a:rPr>
              <a:t>objeto</a:t>
            </a:r>
            <a:r>
              <a:rPr lang="en-US" sz="2600" dirty="0">
                <a:solidFill>
                  <a:schemeClr val="bg1"/>
                </a:solidFill>
              </a:rPr>
              <a:t>?</a:t>
            </a:r>
          </a:p>
        </p:txBody>
      </p:sp>
      <p:sp>
        <p:nvSpPr>
          <p:cNvPr id="3" name="Marcador de contenido 2">
            <a:extLst>
              <a:ext uri="{FF2B5EF4-FFF2-40B4-BE49-F238E27FC236}">
                <a16:creationId xmlns:a16="http://schemas.microsoft.com/office/drawing/2014/main" id="{7CAB0BE2-750F-0009-0BA1-99A683D30755}"/>
              </a:ext>
            </a:extLst>
          </p:cNvPr>
          <p:cNvSpPr>
            <a:spLocks noGrp="1"/>
          </p:cNvSpPr>
          <p:nvPr>
            <p:ph sz="half" idx="1"/>
          </p:nvPr>
        </p:nvSpPr>
        <p:spPr>
          <a:xfrm>
            <a:off x="643468" y="2638044"/>
            <a:ext cx="3363974" cy="3415622"/>
          </a:xfrm>
        </p:spPr>
        <p:txBody>
          <a:bodyPr vert="horz" lIns="91440" tIns="45720" rIns="91440" bIns="45720" rtlCol="0">
            <a:normAutofit/>
          </a:bodyPr>
          <a:lstStyle/>
          <a:p>
            <a:pPr>
              <a:lnSpc>
                <a:spcPct val="90000"/>
              </a:lnSpc>
            </a:pPr>
            <a:r>
              <a:rPr lang="en-US" sz="1500">
                <a:solidFill>
                  <a:schemeClr val="bg1"/>
                </a:solidFill>
              </a:rPr>
              <a:t>Para acceder a la información guardada dentro de un objeto, se debe concatenar la variable del objeto, un punto y la clave del valor correspondiente.</a:t>
            </a:r>
          </a:p>
          <a:p>
            <a:pPr>
              <a:lnSpc>
                <a:spcPct val="90000"/>
              </a:lnSpc>
            </a:pPr>
            <a:r>
              <a:rPr lang="en-US" sz="1500">
                <a:solidFill>
                  <a:schemeClr val="bg1"/>
                </a:solidFill>
              </a:rPr>
              <a:t>Si se quiere acceder a un método, se hace de la misma forma, excepto que además de tener la clave se debe agregar un paréntesis con los parámetros del método.</a:t>
            </a:r>
          </a:p>
          <a:p>
            <a:pPr>
              <a:lnSpc>
                <a:spcPct val="90000"/>
              </a:lnSpc>
            </a:pPr>
            <a:r>
              <a:rPr lang="en-US" sz="1500">
                <a:solidFill>
                  <a:schemeClr val="bg1"/>
                </a:solidFill>
              </a:rPr>
              <a:t>Accediendo a las variables de esta forma, se pueden modificar los valores del objeto o agregar nuevos</a:t>
            </a:r>
          </a:p>
        </p:txBody>
      </p:sp>
      <p:pic>
        <p:nvPicPr>
          <p:cNvPr id="6" name="Imagen 5">
            <a:extLst>
              <a:ext uri="{FF2B5EF4-FFF2-40B4-BE49-F238E27FC236}">
                <a16:creationId xmlns:a16="http://schemas.microsoft.com/office/drawing/2014/main" id="{366887EC-916C-0018-6906-6E635F90C324}"/>
              </a:ext>
            </a:extLst>
          </p:cNvPr>
          <p:cNvPicPr>
            <a:picLocks noChangeAspect="1"/>
          </p:cNvPicPr>
          <p:nvPr/>
        </p:nvPicPr>
        <p:blipFill>
          <a:blip r:embed="rId2"/>
          <a:stretch>
            <a:fillRect/>
          </a:stretch>
        </p:blipFill>
        <p:spPr>
          <a:xfrm>
            <a:off x="5297763" y="851440"/>
            <a:ext cx="6250769" cy="4994252"/>
          </a:xfrm>
          <a:prstGeom prst="rect">
            <a:avLst/>
          </a:prstGeom>
          <a:solidFill>
            <a:srgbClr val="FFFFFF">
              <a:shade val="85000"/>
            </a:srgbClr>
          </a:solidFill>
        </p:spPr>
      </p:pic>
    </p:spTree>
    <p:extLst>
      <p:ext uri="{BB962C8B-B14F-4D97-AF65-F5344CB8AC3E}">
        <p14:creationId xmlns:p14="http://schemas.microsoft.com/office/powerpoint/2010/main" val="1978833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4D0CE1-62CC-EE2D-98E3-FC307B909CF0}"/>
              </a:ext>
            </a:extLst>
          </p:cNvPr>
          <p:cNvSpPr>
            <a:spLocks noGrp="1"/>
          </p:cNvSpPr>
          <p:nvPr>
            <p:ph type="title"/>
          </p:nvPr>
        </p:nvSpPr>
        <p:spPr/>
        <p:txBody>
          <a:bodyPr/>
          <a:lstStyle/>
          <a:p>
            <a:r>
              <a:rPr lang="es-ES"/>
              <a:t>Modificando y agregando valores del objeto</a:t>
            </a:r>
            <a:endParaRPr lang="es-AR" dirty="0"/>
          </a:p>
        </p:txBody>
      </p:sp>
      <p:pic>
        <p:nvPicPr>
          <p:cNvPr id="6" name="Imagen 5">
            <a:extLst>
              <a:ext uri="{FF2B5EF4-FFF2-40B4-BE49-F238E27FC236}">
                <a16:creationId xmlns:a16="http://schemas.microsoft.com/office/drawing/2014/main" id="{E66E8725-8068-36DC-8837-B8E49E5CAB8A}"/>
              </a:ext>
            </a:extLst>
          </p:cNvPr>
          <p:cNvPicPr>
            <a:picLocks noChangeAspect="1"/>
          </p:cNvPicPr>
          <p:nvPr/>
        </p:nvPicPr>
        <p:blipFill>
          <a:blip r:embed="rId2"/>
          <a:stretch>
            <a:fillRect/>
          </a:stretch>
        </p:blipFill>
        <p:spPr>
          <a:xfrm>
            <a:off x="2231135" y="2437170"/>
            <a:ext cx="2106087" cy="1726791"/>
          </a:xfrm>
          <a:prstGeom prst="rect">
            <a:avLst/>
          </a:prstGeom>
          <a:ln>
            <a:noFill/>
          </a:ln>
          <a:effectLst>
            <a:outerShdw blurRad="292100" dist="139700" dir="2700000" algn="tl" rotWithShape="0">
              <a:srgbClr val="333333">
                <a:alpha val="65000"/>
              </a:srgbClr>
            </a:outerShdw>
          </a:effectLst>
        </p:spPr>
      </p:pic>
      <p:pic>
        <p:nvPicPr>
          <p:cNvPr id="8" name="Imagen 7">
            <a:extLst>
              <a:ext uri="{FF2B5EF4-FFF2-40B4-BE49-F238E27FC236}">
                <a16:creationId xmlns:a16="http://schemas.microsoft.com/office/drawing/2014/main" id="{E16544CD-BBC1-312F-7CE6-3462D596FE23}"/>
              </a:ext>
            </a:extLst>
          </p:cNvPr>
          <p:cNvPicPr>
            <a:picLocks noChangeAspect="1"/>
          </p:cNvPicPr>
          <p:nvPr/>
        </p:nvPicPr>
        <p:blipFill>
          <a:blip r:embed="rId3"/>
          <a:stretch>
            <a:fillRect/>
          </a:stretch>
        </p:blipFill>
        <p:spPr>
          <a:xfrm>
            <a:off x="2231136" y="4347940"/>
            <a:ext cx="2514512" cy="1257257"/>
          </a:xfrm>
          <a:prstGeom prst="rect">
            <a:avLst/>
          </a:prstGeom>
          <a:ln>
            <a:noFill/>
          </a:ln>
          <a:effectLst>
            <a:outerShdw blurRad="292100" dist="139700" dir="2700000" algn="tl" rotWithShape="0">
              <a:srgbClr val="333333">
                <a:alpha val="65000"/>
              </a:srgbClr>
            </a:outerShdw>
          </a:effectLst>
        </p:spPr>
      </p:pic>
      <p:pic>
        <p:nvPicPr>
          <p:cNvPr id="10" name="Imagen 9">
            <a:extLst>
              <a:ext uri="{FF2B5EF4-FFF2-40B4-BE49-F238E27FC236}">
                <a16:creationId xmlns:a16="http://schemas.microsoft.com/office/drawing/2014/main" id="{BAAAB420-A1FF-CB9C-7ECF-9F259C873274}"/>
              </a:ext>
            </a:extLst>
          </p:cNvPr>
          <p:cNvPicPr>
            <a:picLocks noChangeAspect="1"/>
          </p:cNvPicPr>
          <p:nvPr/>
        </p:nvPicPr>
        <p:blipFill>
          <a:blip r:embed="rId4"/>
          <a:stretch>
            <a:fillRect/>
          </a:stretch>
        </p:blipFill>
        <p:spPr>
          <a:xfrm>
            <a:off x="4944613" y="4332656"/>
            <a:ext cx="5016251" cy="1273272"/>
          </a:xfrm>
          <a:prstGeom prst="rect">
            <a:avLst/>
          </a:prstGeom>
          <a:ln>
            <a:noFill/>
          </a:ln>
          <a:effectLst>
            <a:outerShdw blurRad="292100" dist="139700" dir="2700000" algn="tl" rotWithShape="0">
              <a:srgbClr val="333333">
                <a:alpha val="65000"/>
              </a:srgbClr>
            </a:outerShdw>
          </a:effectLst>
        </p:spPr>
      </p:pic>
      <p:pic>
        <p:nvPicPr>
          <p:cNvPr id="12" name="Imagen 11">
            <a:extLst>
              <a:ext uri="{FF2B5EF4-FFF2-40B4-BE49-F238E27FC236}">
                <a16:creationId xmlns:a16="http://schemas.microsoft.com/office/drawing/2014/main" id="{F921617D-EB92-7C08-008F-92D7C6E6B8D4}"/>
              </a:ext>
            </a:extLst>
          </p:cNvPr>
          <p:cNvPicPr>
            <a:picLocks noChangeAspect="1"/>
          </p:cNvPicPr>
          <p:nvPr/>
        </p:nvPicPr>
        <p:blipFill>
          <a:blip r:embed="rId5"/>
          <a:stretch>
            <a:fillRect/>
          </a:stretch>
        </p:blipFill>
        <p:spPr>
          <a:xfrm>
            <a:off x="4959513" y="2437170"/>
            <a:ext cx="5000639" cy="149765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86913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E1344B-3B25-0A2B-B348-C07A1D5A1723}"/>
              </a:ext>
            </a:extLst>
          </p:cNvPr>
          <p:cNvSpPr>
            <a:spLocks noGrp="1"/>
          </p:cNvSpPr>
          <p:nvPr>
            <p:ph type="ctrTitle"/>
          </p:nvPr>
        </p:nvSpPr>
        <p:spPr>
          <a:xfrm>
            <a:off x="5458969" y="2386744"/>
            <a:ext cx="5928358" cy="1645920"/>
          </a:xfrm>
        </p:spPr>
        <p:txBody>
          <a:bodyPr>
            <a:normAutofit/>
          </a:bodyPr>
          <a:lstStyle/>
          <a:p>
            <a:r>
              <a:rPr lang="es-ES" dirty="0"/>
              <a:t>Arrays</a:t>
            </a:r>
            <a:endParaRPr lang="es-AR" dirty="0"/>
          </a:p>
        </p:txBody>
      </p:sp>
      <p:sp>
        <p:nvSpPr>
          <p:cNvPr id="3" name="Subtítulo 2">
            <a:extLst>
              <a:ext uri="{FF2B5EF4-FFF2-40B4-BE49-F238E27FC236}">
                <a16:creationId xmlns:a16="http://schemas.microsoft.com/office/drawing/2014/main" id="{BB8F9E5D-D2E3-F4E2-306A-30201CAE028B}"/>
              </a:ext>
            </a:extLst>
          </p:cNvPr>
          <p:cNvSpPr>
            <a:spLocks noGrp="1"/>
          </p:cNvSpPr>
          <p:nvPr>
            <p:ph type="subTitle" idx="1"/>
          </p:nvPr>
        </p:nvSpPr>
        <p:spPr>
          <a:xfrm>
            <a:off x="5458969" y="4352544"/>
            <a:ext cx="5928358" cy="1239894"/>
          </a:xfrm>
        </p:spPr>
        <p:txBody>
          <a:bodyPr>
            <a:normAutofit/>
          </a:bodyPr>
          <a:lstStyle/>
          <a:p>
            <a:r>
              <a:rPr lang="es-ES" dirty="0"/>
              <a:t>También llamados vectores. </a:t>
            </a:r>
          </a:p>
          <a:p>
            <a:r>
              <a:rPr lang="es-ES" dirty="0"/>
              <a:t>Un array en JavaScript es una colección de datos que utiliza el </a:t>
            </a:r>
            <a:r>
              <a:rPr lang="es-ES" b="1" dirty="0">
                <a:effectLst>
                  <a:outerShdw blurRad="38100" dist="38100" dir="2700000" algn="tl">
                    <a:srgbClr val="000000">
                      <a:alpha val="43137"/>
                    </a:srgbClr>
                  </a:outerShdw>
                </a:effectLst>
              </a:rPr>
              <a:t>sistema de indexado</a:t>
            </a:r>
            <a:r>
              <a:rPr lang="es-ES" dirty="0"/>
              <a:t>.</a:t>
            </a:r>
            <a:endParaRPr lang="es-AR" dirty="0"/>
          </a:p>
        </p:txBody>
      </p:sp>
      <p:pic>
        <p:nvPicPr>
          <p:cNvPr id="5" name="Picture 4" descr="Diseño de piso de cuadros de colores brillantes">
            <a:extLst>
              <a:ext uri="{FF2B5EF4-FFF2-40B4-BE49-F238E27FC236}">
                <a16:creationId xmlns:a16="http://schemas.microsoft.com/office/drawing/2014/main" id="{627CDFF6-6963-B04B-D1C9-331C12E28B51}"/>
              </a:ext>
            </a:extLst>
          </p:cNvPr>
          <p:cNvPicPr>
            <a:picLocks noChangeAspect="1"/>
          </p:cNvPicPr>
          <p:nvPr/>
        </p:nvPicPr>
        <p:blipFill>
          <a:blip r:embed="rId2"/>
          <a:srcRect l="27107" r="27083"/>
          <a:stretch>
            <a:fillRect/>
          </a:stretch>
        </p:blipFill>
        <p:spPr>
          <a:xfrm>
            <a:off x="20" y="10"/>
            <a:ext cx="4654277" cy="6857990"/>
          </a:xfrm>
          <a:prstGeom prst="rect">
            <a:avLst/>
          </a:prstGeom>
        </p:spPr>
      </p:pic>
    </p:spTree>
    <p:extLst>
      <p:ext uri="{BB962C8B-B14F-4D97-AF65-F5344CB8AC3E}">
        <p14:creationId xmlns:p14="http://schemas.microsoft.com/office/powerpoint/2010/main" val="2424097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913B9D-AFFD-3F6C-D86F-AFB9F0584A97}"/>
              </a:ext>
            </a:extLst>
          </p:cNvPr>
          <p:cNvSpPr>
            <a:spLocks noGrp="1"/>
          </p:cNvSpPr>
          <p:nvPr>
            <p:ph type="title"/>
          </p:nvPr>
        </p:nvSpPr>
        <p:spPr/>
        <p:txBody>
          <a:bodyPr/>
          <a:lstStyle/>
          <a:p>
            <a:r>
              <a:rPr lang="es-ES" dirty="0"/>
              <a:t>¿Qué es un array?</a:t>
            </a:r>
            <a:endParaRPr lang="es-AR" dirty="0"/>
          </a:p>
        </p:txBody>
      </p:sp>
      <p:sp>
        <p:nvSpPr>
          <p:cNvPr id="3" name="Marcador de contenido 2">
            <a:extLst>
              <a:ext uri="{FF2B5EF4-FFF2-40B4-BE49-F238E27FC236}">
                <a16:creationId xmlns:a16="http://schemas.microsoft.com/office/drawing/2014/main" id="{E546CFE9-F667-294B-E77C-05B69A382EEC}"/>
              </a:ext>
            </a:extLst>
          </p:cNvPr>
          <p:cNvSpPr>
            <a:spLocks noGrp="1"/>
          </p:cNvSpPr>
          <p:nvPr>
            <p:ph sz="half" idx="1"/>
          </p:nvPr>
        </p:nvSpPr>
        <p:spPr/>
        <p:txBody>
          <a:bodyPr/>
          <a:lstStyle/>
          <a:p>
            <a:r>
              <a:rPr lang="es-ES" dirty="0"/>
              <a:t>Un array en JavaScript es una estructura de datos que permite almacenar múltiples valores en una sola variable.</a:t>
            </a:r>
          </a:p>
          <a:p>
            <a:r>
              <a:rPr lang="es-ES" dirty="0"/>
              <a:t>Los </a:t>
            </a:r>
            <a:r>
              <a:rPr lang="es-ES" dirty="0" err="1"/>
              <a:t>arrays</a:t>
            </a:r>
            <a:r>
              <a:rPr lang="es-ES" dirty="0"/>
              <a:t> se pueden crear usando corchetes [ ] y los elementos se separan por comas. </a:t>
            </a:r>
          </a:p>
          <a:p>
            <a:r>
              <a:rPr lang="es-ES" dirty="0"/>
              <a:t>Cada elemento en el array tiene un índice, que comienza en 0.</a:t>
            </a:r>
            <a:endParaRPr lang="es-AR" dirty="0"/>
          </a:p>
        </p:txBody>
      </p:sp>
      <p:pic>
        <p:nvPicPr>
          <p:cNvPr id="6" name="Imagen 5">
            <a:extLst>
              <a:ext uri="{FF2B5EF4-FFF2-40B4-BE49-F238E27FC236}">
                <a16:creationId xmlns:a16="http://schemas.microsoft.com/office/drawing/2014/main" id="{AE3578DB-FDBC-2EB4-A3C6-86D019CE363D}"/>
              </a:ext>
            </a:extLst>
          </p:cNvPr>
          <p:cNvPicPr>
            <a:picLocks noChangeAspect="1"/>
          </p:cNvPicPr>
          <p:nvPr/>
        </p:nvPicPr>
        <p:blipFill>
          <a:blip r:embed="rId2"/>
          <a:stretch>
            <a:fillRect/>
          </a:stretch>
        </p:blipFill>
        <p:spPr>
          <a:xfrm>
            <a:off x="6096000" y="2638044"/>
            <a:ext cx="4753638" cy="1857634"/>
          </a:xfrm>
          <a:prstGeom prst="rect">
            <a:avLst/>
          </a:prstGeom>
          <a:ln>
            <a:noFill/>
          </a:ln>
          <a:effectLst>
            <a:outerShdw blurRad="292100" dist="139700" dir="2700000" algn="tl" rotWithShape="0">
              <a:srgbClr val="333333">
                <a:alpha val="65000"/>
              </a:srgbClr>
            </a:outerShdw>
          </a:effectLst>
        </p:spPr>
      </p:pic>
      <p:pic>
        <p:nvPicPr>
          <p:cNvPr id="9" name="Imagen 8">
            <a:extLst>
              <a:ext uri="{FF2B5EF4-FFF2-40B4-BE49-F238E27FC236}">
                <a16:creationId xmlns:a16="http://schemas.microsoft.com/office/drawing/2014/main" id="{154450A3-8F0B-DA73-8BFA-A9FE6D65E09A}"/>
              </a:ext>
            </a:extLst>
          </p:cNvPr>
          <p:cNvPicPr>
            <a:picLocks noChangeAspect="1"/>
          </p:cNvPicPr>
          <p:nvPr/>
        </p:nvPicPr>
        <p:blipFill>
          <a:blip r:embed="rId3"/>
          <a:stretch>
            <a:fillRect/>
          </a:stretch>
        </p:blipFill>
        <p:spPr>
          <a:xfrm>
            <a:off x="6096000" y="4654023"/>
            <a:ext cx="3313471" cy="128920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10784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EE4877-241F-04EA-673C-DCFE8D9B478A}"/>
              </a:ext>
            </a:extLst>
          </p:cNvPr>
          <p:cNvSpPr>
            <a:spLocks noGrp="1"/>
          </p:cNvSpPr>
          <p:nvPr>
            <p:ph type="title"/>
          </p:nvPr>
        </p:nvSpPr>
        <p:spPr/>
        <p:txBody>
          <a:bodyPr/>
          <a:lstStyle/>
          <a:p>
            <a:r>
              <a:rPr lang="es-ES" dirty="0"/>
              <a:t>Recorrer un array con </a:t>
            </a:r>
            <a:r>
              <a:rPr lang="es-ES" dirty="0" err="1"/>
              <a:t>array.length</a:t>
            </a:r>
            <a:endParaRPr lang="es-AR" dirty="0"/>
          </a:p>
        </p:txBody>
      </p:sp>
      <p:sp>
        <p:nvSpPr>
          <p:cNvPr id="3" name="Marcador de contenido 2">
            <a:extLst>
              <a:ext uri="{FF2B5EF4-FFF2-40B4-BE49-F238E27FC236}">
                <a16:creationId xmlns:a16="http://schemas.microsoft.com/office/drawing/2014/main" id="{BBC3D0B2-4E7E-A760-A0F5-9CE363FC83AC}"/>
              </a:ext>
            </a:extLst>
          </p:cNvPr>
          <p:cNvSpPr>
            <a:spLocks noGrp="1"/>
          </p:cNvSpPr>
          <p:nvPr>
            <p:ph idx="1"/>
          </p:nvPr>
        </p:nvSpPr>
        <p:spPr/>
        <p:txBody>
          <a:bodyPr/>
          <a:lstStyle/>
          <a:p>
            <a:r>
              <a:rPr lang="es-ES" dirty="0"/>
              <a:t>Siempre que definimos un nuevo array, JavaScript le añadirá una “key” como si fuese un objeto que corresponde al “largo” del array.</a:t>
            </a:r>
          </a:p>
          <a:p>
            <a:r>
              <a:rPr lang="es-ES" dirty="0"/>
              <a:t>Si el array tiene 3 elementos, entonces </a:t>
            </a:r>
            <a:r>
              <a:rPr lang="es-ES" dirty="0" err="1"/>
              <a:t>array.length</a:t>
            </a:r>
            <a:r>
              <a:rPr lang="es-ES" dirty="0"/>
              <a:t> será igual a 3</a:t>
            </a:r>
          </a:p>
          <a:p>
            <a:r>
              <a:rPr lang="es-ES" dirty="0"/>
              <a:t>Esta key es extremadamente útil cuando queremos recorrer el array usando un bucle “</a:t>
            </a:r>
            <a:r>
              <a:rPr lang="es-ES" dirty="0" err="1"/>
              <a:t>for</a:t>
            </a:r>
            <a:r>
              <a:rPr lang="es-ES" dirty="0"/>
              <a:t>”</a:t>
            </a:r>
            <a:endParaRPr lang="es-AR" dirty="0"/>
          </a:p>
        </p:txBody>
      </p:sp>
      <p:pic>
        <p:nvPicPr>
          <p:cNvPr id="5" name="Imagen 4">
            <a:extLst>
              <a:ext uri="{FF2B5EF4-FFF2-40B4-BE49-F238E27FC236}">
                <a16:creationId xmlns:a16="http://schemas.microsoft.com/office/drawing/2014/main" id="{128A716C-5556-2866-3F28-2E41C8DE86E8}"/>
              </a:ext>
            </a:extLst>
          </p:cNvPr>
          <p:cNvPicPr>
            <a:picLocks noChangeAspect="1"/>
          </p:cNvPicPr>
          <p:nvPr/>
        </p:nvPicPr>
        <p:blipFill>
          <a:blip r:embed="rId2"/>
          <a:stretch>
            <a:fillRect/>
          </a:stretch>
        </p:blipFill>
        <p:spPr>
          <a:xfrm>
            <a:off x="2318810" y="4552135"/>
            <a:ext cx="7554379" cy="193384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05108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708687-127C-ACEC-E02A-9316A7290D93}"/>
              </a:ext>
            </a:extLst>
          </p:cNvPr>
          <p:cNvSpPr>
            <a:spLocks noGrp="1"/>
          </p:cNvSpPr>
          <p:nvPr>
            <p:ph type="title"/>
          </p:nvPr>
        </p:nvSpPr>
        <p:spPr/>
        <p:txBody>
          <a:bodyPr/>
          <a:lstStyle/>
          <a:p>
            <a:r>
              <a:rPr lang="es-ES" dirty="0"/>
              <a:t>Espacio de actividad para recorrer arrays</a:t>
            </a:r>
            <a:endParaRPr lang="es-AR" dirty="0"/>
          </a:p>
        </p:txBody>
      </p:sp>
      <p:sp>
        <p:nvSpPr>
          <p:cNvPr id="3" name="Marcador de texto 2">
            <a:extLst>
              <a:ext uri="{FF2B5EF4-FFF2-40B4-BE49-F238E27FC236}">
                <a16:creationId xmlns:a16="http://schemas.microsoft.com/office/drawing/2014/main" id="{44EBE66F-F8D9-D90F-5949-384C786DE55F}"/>
              </a:ext>
            </a:extLst>
          </p:cNvPr>
          <p:cNvSpPr>
            <a:spLocks noGrp="1"/>
          </p:cNvSpPr>
          <p:nvPr>
            <p:ph type="body" idx="1"/>
          </p:nvPr>
        </p:nvSpPr>
        <p:spPr/>
        <p:txBody>
          <a:bodyPr/>
          <a:lstStyle/>
          <a:p>
            <a:pPr algn="ctr"/>
            <a:r>
              <a:rPr lang="es-ES" dirty="0"/>
              <a:t>Explicar cómo realizar con un </a:t>
            </a:r>
            <a:r>
              <a:rPr lang="es-ES" dirty="0" err="1"/>
              <a:t>for</a:t>
            </a:r>
            <a:r>
              <a:rPr lang="es-ES" dirty="0"/>
              <a:t> un mapeo y un </a:t>
            </a:r>
            <a:r>
              <a:rPr lang="es-ES" dirty="0" err="1"/>
              <a:t>for</a:t>
            </a:r>
            <a:r>
              <a:rPr lang="es-ES" dirty="0"/>
              <a:t> </a:t>
            </a:r>
            <a:r>
              <a:rPr lang="es-ES" dirty="0" err="1"/>
              <a:t>each</a:t>
            </a:r>
            <a:r>
              <a:rPr lang="es-ES" dirty="0"/>
              <a:t> sin necesidad de los métodos propios</a:t>
            </a:r>
            <a:endParaRPr lang="es-AR" dirty="0"/>
          </a:p>
        </p:txBody>
      </p:sp>
    </p:spTree>
    <p:extLst>
      <p:ext uri="{BB962C8B-B14F-4D97-AF65-F5344CB8AC3E}">
        <p14:creationId xmlns:p14="http://schemas.microsoft.com/office/powerpoint/2010/main" val="823214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3CC00A-9F05-AD08-7980-BB9124F8F8D5}"/>
              </a:ext>
            </a:extLst>
          </p:cNvPr>
          <p:cNvSpPr>
            <a:spLocks noGrp="1"/>
          </p:cNvSpPr>
          <p:nvPr>
            <p:ph type="ctrTitle"/>
          </p:nvPr>
        </p:nvSpPr>
        <p:spPr/>
        <p:txBody>
          <a:bodyPr/>
          <a:lstStyle/>
          <a:p>
            <a:r>
              <a:rPr lang="es-ES" dirty="0"/>
              <a:t>Métodos de arrays</a:t>
            </a:r>
            <a:endParaRPr lang="es-AR" dirty="0"/>
          </a:p>
        </p:txBody>
      </p:sp>
      <p:sp>
        <p:nvSpPr>
          <p:cNvPr id="3" name="Subtítulo 2">
            <a:extLst>
              <a:ext uri="{FF2B5EF4-FFF2-40B4-BE49-F238E27FC236}">
                <a16:creationId xmlns:a16="http://schemas.microsoft.com/office/drawing/2014/main" id="{B7B0A125-E6F4-4884-F127-CB675616C664}"/>
              </a:ext>
            </a:extLst>
          </p:cNvPr>
          <p:cNvSpPr>
            <a:spLocks noGrp="1"/>
          </p:cNvSpPr>
          <p:nvPr>
            <p:ph type="subTitle" idx="1"/>
          </p:nvPr>
        </p:nvSpPr>
        <p:spPr>
          <a:xfrm>
            <a:off x="2695194" y="4352544"/>
            <a:ext cx="6801612" cy="2274398"/>
          </a:xfrm>
        </p:spPr>
        <p:txBody>
          <a:bodyPr>
            <a:normAutofit/>
          </a:bodyPr>
          <a:lstStyle/>
          <a:p>
            <a:r>
              <a:rPr lang="es-ES" dirty="0"/>
              <a:t>Distintos métodos de los arrays que permiten su manipulación y recorrido</a:t>
            </a:r>
            <a:endParaRPr lang="es-AR" dirty="0"/>
          </a:p>
        </p:txBody>
      </p:sp>
    </p:spTree>
    <p:extLst>
      <p:ext uri="{BB962C8B-B14F-4D97-AF65-F5344CB8AC3E}">
        <p14:creationId xmlns:p14="http://schemas.microsoft.com/office/powerpoint/2010/main" val="2231429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0493FE-3431-C699-E1F7-98DEFA8BCD28}"/>
              </a:ext>
            </a:extLst>
          </p:cNvPr>
          <p:cNvSpPr>
            <a:spLocks noGrp="1"/>
          </p:cNvSpPr>
          <p:nvPr>
            <p:ph type="title"/>
          </p:nvPr>
        </p:nvSpPr>
        <p:spPr/>
        <p:txBody>
          <a:bodyPr/>
          <a:lstStyle/>
          <a:p>
            <a:r>
              <a:rPr lang="es-ES" dirty="0"/>
              <a:t>¿Métodos de Arrays?</a:t>
            </a:r>
            <a:endParaRPr lang="es-AR" dirty="0"/>
          </a:p>
        </p:txBody>
      </p:sp>
      <p:sp>
        <p:nvSpPr>
          <p:cNvPr id="3" name="Marcador de contenido 2">
            <a:extLst>
              <a:ext uri="{FF2B5EF4-FFF2-40B4-BE49-F238E27FC236}">
                <a16:creationId xmlns:a16="http://schemas.microsoft.com/office/drawing/2014/main" id="{56682D66-FBBF-FAC0-5EC6-8EC1D2DCB575}"/>
              </a:ext>
            </a:extLst>
          </p:cNvPr>
          <p:cNvSpPr>
            <a:spLocks noGrp="1"/>
          </p:cNvSpPr>
          <p:nvPr>
            <p:ph idx="1"/>
          </p:nvPr>
        </p:nvSpPr>
        <p:spPr/>
        <p:txBody>
          <a:bodyPr/>
          <a:lstStyle/>
          <a:p>
            <a:r>
              <a:rPr lang="es-ES" dirty="0"/>
              <a:t>¿No habíamos definido a los métodos como funciones dentro de objetos?</a:t>
            </a:r>
            <a:br>
              <a:rPr lang="es-ES" dirty="0"/>
            </a:br>
            <a:r>
              <a:rPr lang="es-ES" dirty="0"/>
              <a:t>¿Cómo pueden tener métodos los Arrays?</a:t>
            </a:r>
          </a:p>
          <a:p>
            <a:r>
              <a:rPr lang="es-ES" dirty="0"/>
              <a:t>En </a:t>
            </a:r>
            <a:r>
              <a:rPr lang="es-ES" dirty="0" err="1"/>
              <a:t>javascript</a:t>
            </a:r>
            <a:r>
              <a:rPr lang="es-ES" dirty="0"/>
              <a:t>, la mayoría de los tipos de dato como las Funciones, Arrays u clases son realmente objetos disfrazados, los cuales guardan muchísimas duplas clave-valor, en las cuales se encuentran métodos como </a:t>
            </a:r>
            <a:r>
              <a:rPr lang="es-ES" dirty="0" err="1"/>
              <a:t>array.map</a:t>
            </a:r>
            <a:r>
              <a:rPr lang="es-ES" dirty="0"/>
              <a:t>(), </a:t>
            </a:r>
            <a:r>
              <a:rPr lang="es-ES" dirty="0" err="1"/>
              <a:t>array.forEach</a:t>
            </a:r>
            <a:r>
              <a:rPr lang="es-ES" dirty="0"/>
              <a:t>() u </a:t>
            </a:r>
            <a:r>
              <a:rPr lang="es-ES" dirty="0" err="1"/>
              <a:t>array.filter</a:t>
            </a:r>
            <a:r>
              <a:rPr lang="es-ES" dirty="0"/>
              <a:t>()</a:t>
            </a:r>
          </a:p>
          <a:p>
            <a:r>
              <a:rPr lang="es-ES" dirty="0"/>
              <a:t>Estos métodos se invocan de la misma manera que se invoca cualquier valor de un objeto según una clave</a:t>
            </a:r>
            <a:endParaRPr lang="es-AR" dirty="0"/>
          </a:p>
        </p:txBody>
      </p:sp>
      <p:pic>
        <p:nvPicPr>
          <p:cNvPr id="2050" name="Picture 2" descr="Python] Map, Filter, Reduce e List Comprehension">
            <a:extLst>
              <a:ext uri="{FF2B5EF4-FFF2-40B4-BE49-F238E27FC236}">
                <a16:creationId xmlns:a16="http://schemas.microsoft.com/office/drawing/2014/main" id="{3461E103-2724-59EC-545B-1E3FF7EA15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2326" b="27157"/>
          <a:stretch/>
        </p:blipFill>
        <p:spPr bwMode="auto">
          <a:xfrm>
            <a:off x="5663380" y="5172062"/>
            <a:ext cx="5214783" cy="113593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090543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84A6FE-4936-4150-FFB5-F2AAD9A68970}"/>
              </a:ext>
            </a:extLst>
          </p:cNvPr>
          <p:cNvSpPr>
            <a:spLocks noGrp="1"/>
          </p:cNvSpPr>
          <p:nvPr>
            <p:ph type="body" idx="1"/>
          </p:nvPr>
        </p:nvSpPr>
        <p:spPr/>
        <p:txBody>
          <a:bodyPr/>
          <a:lstStyle/>
          <a:p>
            <a:r>
              <a:rPr lang="es-ES" dirty="0" err="1"/>
              <a:t>Array.push</a:t>
            </a:r>
            <a:r>
              <a:rPr lang="es-ES" dirty="0"/>
              <a:t>()</a:t>
            </a:r>
            <a:endParaRPr lang="es-AR" dirty="0"/>
          </a:p>
        </p:txBody>
      </p:sp>
      <p:sp>
        <p:nvSpPr>
          <p:cNvPr id="3" name="Marcador de contenido 2">
            <a:extLst>
              <a:ext uri="{FF2B5EF4-FFF2-40B4-BE49-F238E27FC236}">
                <a16:creationId xmlns:a16="http://schemas.microsoft.com/office/drawing/2014/main" id="{548E3575-C6E0-9BF3-9F2D-495D5D3AD1D3}"/>
              </a:ext>
            </a:extLst>
          </p:cNvPr>
          <p:cNvSpPr>
            <a:spLocks noGrp="1"/>
          </p:cNvSpPr>
          <p:nvPr>
            <p:ph sz="half" idx="2"/>
          </p:nvPr>
        </p:nvSpPr>
        <p:spPr/>
        <p:txBody>
          <a:bodyPr/>
          <a:lstStyle/>
          <a:p>
            <a:r>
              <a:rPr lang="es-ES" dirty="0"/>
              <a:t>Sirve para meter cualquier tipo de dato al final de la lista del array.</a:t>
            </a:r>
          </a:p>
          <a:p>
            <a:r>
              <a:rPr lang="es-ES" dirty="0"/>
              <a:t>Recibe el nuevo elemento del array.</a:t>
            </a:r>
          </a:p>
          <a:p>
            <a:r>
              <a:rPr lang="es-ES" dirty="0"/>
              <a:t>No devuelve nada.</a:t>
            </a:r>
            <a:endParaRPr lang="es-AR" dirty="0"/>
          </a:p>
        </p:txBody>
      </p:sp>
      <p:sp>
        <p:nvSpPr>
          <p:cNvPr id="4" name="Marcador de contenido 3">
            <a:extLst>
              <a:ext uri="{FF2B5EF4-FFF2-40B4-BE49-F238E27FC236}">
                <a16:creationId xmlns:a16="http://schemas.microsoft.com/office/drawing/2014/main" id="{373C1B57-E199-EB27-16C2-C917C06F5400}"/>
              </a:ext>
            </a:extLst>
          </p:cNvPr>
          <p:cNvSpPr>
            <a:spLocks noGrp="1"/>
          </p:cNvSpPr>
          <p:nvPr>
            <p:ph sz="quarter" idx="4"/>
          </p:nvPr>
        </p:nvSpPr>
        <p:spPr/>
        <p:txBody>
          <a:bodyPr/>
          <a:lstStyle/>
          <a:p>
            <a:r>
              <a:rPr lang="es-ES" dirty="0"/>
              <a:t>Sirve para quitar el último elemento de la lista del array.</a:t>
            </a:r>
          </a:p>
          <a:p>
            <a:r>
              <a:rPr lang="es-ES" dirty="0"/>
              <a:t>No recibe nada.</a:t>
            </a:r>
          </a:p>
          <a:p>
            <a:r>
              <a:rPr lang="es-ES" dirty="0"/>
              <a:t>Devuelve el elemento eliminado.</a:t>
            </a:r>
            <a:endParaRPr lang="es-AR" dirty="0"/>
          </a:p>
        </p:txBody>
      </p:sp>
      <p:sp>
        <p:nvSpPr>
          <p:cNvPr id="5" name="Marcador de texto 4">
            <a:extLst>
              <a:ext uri="{FF2B5EF4-FFF2-40B4-BE49-F238E27FC236}">
                <a16:creationId xmlns:a16="http://schemas.microsoft.com/office/drawing/2014/main" id="{AFDBB1EF-572E-BF55-A253-96A997F1CBD7}"/>
              </a:ext>
            </a:extLst>
          </p:cNvPr>
          <p:cNvSpPr>
            <a:spLocks noGrp="1"/>
          </p:cNvSpPr>
          <p:nvPr>
            <p:ph type="body" sz="quarter" idx="13"/>
          </p:nvPr>
        </p:nvSpPr>
        <p:spPr/>
        <p:txBody>
          <a:bodyPr/>
          <a:lstStyle/>
          <a:p>
            <a:r>
              <a:rPr lang="es-ES" dirty="0" err="1"/>
              <a:t>Array.pop</a:t>
            </a:r>
            <a:r>
              <a:rPr lang="es-ES" dirty="0"/>
              <a:t>()</a:t>
            </a:r>
            <a:endParaRPr lang="es-AR" dirty="0"/>
          </a:p>
        </p:txBody>
      </p:sp>
      <p:sp>
        <p:nvSpPr>
          <p:cNvPr id="6" name="Título 5">
            <a:extLst>
              <a:ext uri="{FF2B5EF4-FFF2-40B4-BE49-F238E27FC236}">
                <a16:creationId xmlns:a16="http://schemas.microsoft.com/office/drawing/2014/main" id="{4DD14704-8FE9-4BF8-0C41-C5ECCEE74898}"/>
              </a:ext>
            </a:extLst>
          </p:cNvPr>
          <p:cNvSpPr>
            <a:spLocks noGrp="1"/>
          </p:cNvSpPr>
          <p:nvPr>
            <p:ph type="title"/>
          </p:nvPr>
        </p:nvSpPr>
        <p:spPr/>
        <p:txBody>
          <a:bodyPr/>
          <a:lstStyle/>
          <a:p>
            <a:r>
              <a:rPr lang="es-ES" dirty="0" err="1"/>
              <a:t>Push</a:t>
            </a:r>
            <a:r>
              <a:rPr lang="es-ES" dirty="0"/>
              <a:t> y pop</a:t>
            </a:r>
            <a:endParaRPr lang="es-AR" dirty="0"/>
          </a:p>
        </p:txBody>
      </p:sp>
      <p:pic>
        <p:nvPicPr>
          <p:cNvPr id="8" name="Imagen 7">
            <a:extLst>
              <a:ext uri="{FF2B5EF4-FFF2-40B4-BE49-F238E27FC236}">
                <a16:creationId xmlns:a16="http://schemas.microsoft.com/office/drawing/2014/main" id="{46C7C658-2BA1-04C7-E920-F0486DDE8FB3}"/>
              </a:ext>
            </a:extLst>
          </p:cNvPr>
          <p:cNvPicPr>
            <a:picLocks noChangeAspect="1"/>
          </p:cNvPicPr>
          <p:nvPr/>
        </p:nvPicPr>
        <p:blipFill>
          <a:blip r:embed="rId2"/>
          <a:stretch>
            <a:fillRect/>
          </a:stretch>
        </p:blipFill>
        <p:spPr>
          <a:xfrm>
            <a:off x="940760" y="5027116"/>
            <a:ext cx="5315692" cy="1247949"/>
          </a:xfrm>
          <a:prstGeom prst="rect">
            <a:avLst/>
          </a:prstGeom>
          <a:ln>
            <a:noFill/>
          </a:ln>
          <a:effectLst>
            <a:outerShdw blurRad="292100" dist="139700" dir="2700000" algn="tl" rotWithShape="0">
              <a:srgbClr val="333333">
                <a:alpha val="65000"/>
              </a:srgbClr>
            </a:outerShdw>
          </a:effectLst>
        </p:spPr>
      </p:pic>
      <p:pic>
        <p:nvPicPr>
          <p:cNvPr id="10" name="Imagen 9">
            <a:extLst>
              <a:ext uri="{FF2B5EF4-FFF2-40B4-BE49-F238E27FC236}">
                <a16:creationId xmlns:a16="http://schemas.microsoft.com/office/drawing/2014/main" id="{D6B089F8-7CFA-7F30-5977-28D2DFE5D161}"/>
              </a:ext>
            </a:extLst>
          </p:cNvPr>
          <p:cNvPicPr>
            <a:picLocks noChangeAspect="1"/>
          </p:cNvPicPr>
          <p:nvPr/>
        </p:nvPicPr>
        <p:blipFill>
          <a:blip r:embed="rId3"/>
          <a:stretch>
            <a:fillRect/>
          </a:stretch>
        </p:blipFill>
        <p:spPr>
          <a:xfrm>
            <a:off x="6655049" y="4939814"/>
            <a:ext cx="4505954" cy="160042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39747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CCD81D-9666-5648-2375-90B62E326E36}"/>
              </a:ext>
            </a:extLst>
          </p:cNvPr>
          <p:cNvSpPr>
            <a:spLocks noGrp="1"/>
          </p:cNvSpPr>
          <p:nvPr>
            <p:ph type="title"/>
          </p:nvPr>
        </p:nvSpPr>
        <p:spPr/>
        <p:txBody>
          <a:bodyPr/>
          <a:lstStyle/>
          <a:p>
            <a:r>
              <a:rPr lang="es-ES" dirty="0" err="1"/>
              <a:t>Array.foreach</a:t>
            </a:r>
            <a:r>
              <a:rPr lang="es-ES" dirty="0"/>
              <a:t>()</a:t>
            </a:r>
            <a:endParaRPr lang="es-AR" dirty="0"/>
          </a:p>
        </p:txBody>
      </p:sp>
      <p:sp>
        <p:nvSpPr>
          <p:cNvPr id="3" name="Marcador de contenido 2">
            <a:extLst>
              <a:ext uri="{FF2B5EF4-FFF2-40B4-BE49-F238E27FC236}">
                <a16:creationId xmlns:a16="http://schemas.microsoft.com/office/drawing/2014/main" id="{EFE941A1-8838-1757-D3D1-B9F54B77FDF4}"/>
              </a:ext>
            </a:extLst>
          </p:cNvPr>
          <p:cNvSpPr>
            <a:spLocks noGrp="1"/>
          </p:cNvSpPr>
          <p:nvPr>
            <p:ph sz="half" idx="1"/>
          </p:nvPr>
        </p:nvSpPr>
        <p:spPr>
          <a:xfrm>
            <a:off x="1581912" y="2638043"/>
            <a:ext cx="4271771" cy="3782421"/>
          </a:xfrm>
        </p:spPr>
        <p:txBody>
          <a:bodyPr>
            <a:normAutofit lnSpcReduction="10000"/>
          </a:bodyPr>
          <a:lstStyle/>
          <a:p>
            <a:r>
              <a:rPr lang="es-AR" dirty="0"/>
              <a:t>Es un método que recibe como parámetro una </a:t>
            </a:r>
            <a:r>
              <a:rPr lang="es-AR" b="1" dirty="0"/>
              <a:t>función flecha</a:t>
            </a:r>
            <a:endParaRPr lang="es-AR" dirty="0"/>
          </a:p>
          <a:p>
            <a:r>
              <a:rPr lang="es-AR" dirty="0"/>
              <a:t>Esta función flecha </a:t>
            </a:r>
            <a:r>
              <a:rPr lang="es-AR" b="1" dirty="0"/>
              <a:t>recibe como parámetro una variable que puede tener cualquier nombre y representa al elemento</a:t>
            </a:r>
            <a:endParaRPr lang="es-AR" dirty="0"/>
          </a:p>
          <a:p>
            <a:r>
              <a:rPr lang="es-AR" dirty="0"/>
              <a:t>Lo que hace el forEach es </a:t>
            </a:r>
            <a:r>
              <a:rPr lang="es-AR" b="1" dirty="0"/>
              <a:t>aplicar la función flecha a todos los elementos del array</a:t>
            </a:r>
          </a:p>
          <a:p>
            <a:r>
              <a:rPr lang="es-AR" dirty="0"/>
              <a:t>La función flecha no necesita devolver nada necesariamente</a:t>
            </a:r>
          </a:p>
          <a:p>
            <a:r>
              <a:rPr lang="es-AR" dirty="0"/>
              <a:t>El método forEach no devuelve nada</a:t>
            </a:r>
          </a:p>
        </p:txBody>
      </p:sp>
      <p:pic>
        <p:nvPicPr>
          <p:cNvPr id="6" name="Imagen 5">
            <a:extLst>
              <a:ext uri="{FF2B5EF4-FFF2-40B4-BE49-F238E27FC236}">
                <a16:creationId xmlns:a16="http://schemas.microsoft.com/office/drawing/2014/main" id="{5C25F6E0-9ABE-BDD9-E0CC-D78432802BAD}"/>
              </a:ext>
            </a:extLst>
          </p:cNvPr>
          <p:cNvPicPr>
            <a:picLocks noChangeAspect="1"/>
          </p:cNvPicPr>
          <p:nvPr/>
        </p:nvPicPr>
        <p:blipFill>
          <a:blip r:embed="rId2"/>
          <a:stretch>
            <a:fillRect/>
          </a:stretch>
        </p:blipFill>
        <p:spPr>
          <a:xfrm>
            <a:off x="6685935" y="2638044"/>
            <a:ext cx="3391373" cy="2619741"/>
          </a:xfrm>
          <a:prstGeom prst="rect">
            <a:avLst/>
          </a:prstGeom>
          <a:ln>
            <a:noFill/>
          </a:ln>
          <a:effectLst>
            <a:outerShdw blurRad="292100" dist="139700" dir="2700000" algn="tl" rotWithShape="0">
              <a:srgbClr val="333333">
                <a:alpha val="65000"/>
              </a:srgbClr>
            </a:outerShdw>
          </a:effectLst>
        </p:spPr>
      </p:pic>
      <p:pic>
        <p:nvPicPr>
          <p:cNvPr id="8" name="Imagen 7">
            <a:extLst>
              <a:ext uri="{FF2B5EF4-FFF2-40B4-BE49-F238E27FC236}">
                <a16:creationId xmlns:a16="http://schemas.microsoft.com/office/drawing/2014/main" id="{421C59B6-07FC-632B-6C16-D8D7F00E33C2}"/>
              </a:ext>
            </a:extLst>
          </p:cNvPr>
          <p:cNvPicPr>
            <a:picLocks noChangeAspect="1"/>
          </p:cNvPicPr>
          <p:nvPr/>
        </p:nvPicPr>
        <p:blipFill>
          <a:blip r:embed="rId3"/>
          <a:srcRect r="39895" b="1644"/>
          <a:stretch/>
        </p:blipFill>
        <p:spPr>
          <a:xfrm>
            <a:off x="6685935" y="5547287"/>
            <a:ext cx="3391373" cy="58804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2367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BE7624-D118-CF39-D56A-690D45FADA83}"/>
              </a:ext>
            </a:extLst>
          </p:cNvPr>
          <p:cNvSpPr>
            <a:spLocks noGrp="1"/>
          </p:cNvSpPr>
          <p:nvPr>
            <p:ph type="title"/>
          </p:nvPr>
        </p:nvSpPr>
        <p:spPr/>
        <p:txBody>
          <a:bodyPr/>
          <a:lstStyle/>
          <a:p>
            <a:r>
              <a:rPr lang="es-ES" dirty="0" err="1"/>
              <a:t>Array.filter</a:t>
            </a:r>
            <a:r>
              <a:rPr lang="es-ES" dirty="0"/>
              <a:t>()</a:t>
            </a:r>
            <a:endParaRPr lang="es-AR" dirty="0"/>
          </a:p>
        </p:txBody>
      </p:sp>
      <p:sp>
        <p:nvSpPr>
          <p:cNvPr id="3" name="Marcador de contenido 2">
            <a:extLst>
              <a:ext uri="{FF2B5EF4-FFF2-40B4-BE49-F238E27FC236}">
                <a16:creationId xmlns:a16="http://schemas.microsoft.com/office/drawing/2014/main" id="{95DB6647-E2BA-BB27-8F19-4B27A82DE06F}"/>
              </a:ext>
            </a:extLst>
          </p:cNvPr>
          <p:cNvSpPr>
            <a:spLocks noGrp="1"/>
          </p:cNvSpPr>
          <p:nvPr>
            <p:ph sz="half" idx="1"/>
          </p:nvPr>
        </p:nvSpPr>
        <p:spPr/>
        <p:txBody>
          <a:bodyPr/>
          <a:lstStyle/>
          <a:p>
            <a:r>
              <a:rPr lang="es-ES" dirty="0"/>
              <a:t>La función que recibe por parámetro debe devolver verdadero o falso</a:t>
            </a:r>
          </a:p>
          <a:p>
            <a:r>
              <a:rPr lang="es-ES" dirty="0"/>
              <a:t>Para esto se pueden usar comparaciones de igualdad o mayor-igual </a:t>
            </a:r>
            <a:br>
              <a:rPr lang="es-ES" dirty="0"/>
            </a:br>
            <a:r>
              <a:rPr lang="es-ES" dirty="0"/>
              <a:t>(==, &lt;, &gt;, &gt;=, &lt;=)</a:t>
            </a:r>
          </a:p>
          <a:p>
            <a:r>
              <a:rPr lang="es-AR" dirty="0"/>
              <a:t>Devuelve un array</a:t>
            </a:r>
          </a:p>
          <a:p>
            <a:r>
              <a:rPr lang="es-AR" dirty="0"/>
              <a:t>Los elementos que devuelvan false no estarán en este nuevo array</a:t>
            </a:r>
          </a:p>
        </p:txBody>
      </p:sp>
      <p:pic>
        <p:nvPicPr>
          <p:cNvPr id="6" name="Imagen 5">
            <a:extLst>
              <a:ext uri="{FF2B5EF4-FFF2-40B4-BE49-F238E27FC236}">
                <a16:creationId xmlns:a16="http://schemas.microsoft.com/office/drawing/2014/main" id="{6CEE7D11-EC0C-8215-8F76-EBF52DD97BFF}"/>
              </a:ext>
            </a:extLst>
          </p:cNvPr>
          <p:cNvPicPr>
            <a:picLocks noChangeAspect="1"/>
          </p:cNvPicPr>
          <p:nvPr/>
        </p:nvPicPr>
        <p:blipFill>
          <a:blip r:embed="rId2"/>
          <a:stretch>
            <a:fillRect/>
          </a:stretch>
        </p:blipFill>
        <p:spPr>
          <a:xfrm>
            <a:off x="6175363" y="2638044"/>
            <a:ext cx="4060543" cy="23665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27432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EBF659-F3B5-29A3-4105-D58B7BF5F2F5}"/>
              </a:ext>
            </a:extLst>
          </p:cNvPr>
          <p:cNvSpPr>
            <a:spLocks noGrp="1"/>
          </p:cNvSpPr>
          <p:nvPr>
            <p:ph type="title"/>
          </p:nvPr>
        </p:nvSpPr>
        <p:spPr/>
        <p:txBody>
          <a:bodyPr/>
          <a:lstStyle/>
          <a:p>
            <a:r>
              <a:rPr lang="es-ES" dirty="0" err="1"/>
              <a:t>Array.map</a:t>
            </a:r>
            <a:r>
              <a:rPr lang="es-ES" dirty="0"/>
              <a:t>()</a:t>
            </a:r>
            <a:endParaRPr lang="es-AR" dirty="0"/>
          </a:p>
        </p:txBody>
      </p:sp>
      <p:sp>
        <p:nvSpPr>
          <p:cNvPr id="3" name="Marcador de contenido 2">
            <a:extLst>
              <a:ext uri="{FF2B5EF4-FFF2-40B4-BE49-F238E27FC236}">
                <a16:creationId xmlns:a16="http://schemas.microsoft.com/office/drawing/2014/main" id="{E8C5BB95-17DE-C85C-F82A-141B950510FD}"/>
              </a:ext>
            </a:extLst>
          </p:cNvPr>
          <p:cNvSpPr>
            <a:spLocks noGrp="1"/>
          </p:cNvSpPr>
          <p:nvPr>
            <p:ph sz="half" idx="1"/>
          </p:nvPr>
        </p:nvSpPr>
        <p:spPr>
          <a:xfrm>
            <a:off x="1581912" y="2638043"/>
            <a:ext cx="4769727" cy="3585775"/>
          </a:xfrm>
        </p:spPr>
        <p:txBody>
          <a:bodyPr>
            <a:normAutofit fontScale="92500" lnSpcReduction="10000"/>
          </a:bodyPr>
          <a:lstStyle/>
          <a:p>
            <a:r>
              <a:rPr lang="es-ES" dirty="0"/>
              <a:t>Generalmente, este método recibe como parámetro una </a:t>
            </a:r>
            <a:r>
              <a:rPr lang="es-ES" b="1" dirty="0"/>
              <a:t>función flecha de retorno implícito.</a:t>
            </a:r>
          </a:p>
          <a:p>
            <a:r>
              <a:rPr lang="es-ES" dirty="0"/>
              <a:t>La función de retorno implícito debe recibir un solo parámetro de cualquier nombre (generalmente “elemento”). Este parámetro simbolizará un elemento del array.</a:t>
            </a:r>
          </a:p>
          <a:p>
            <a:r>
              <a:rPr lang="es-ES" dirty="0"/>
              <a:t>Lo que retorne la función se convertirá en el nuevo elemento del array.</a:t>
            </a:r>
          </a:p>
          <a:p>
            <a:r>
              <a:rPr lang="es-ES" dirty="0"/>
              <a:t>Este método devuelve un nuevo array. Este nuevo array es el resultado de ejecutar la función flecha con cada uno de sus elementos, y guardarlos en el lugar correspondiente.</a:t>
            </a:r>
            <a:endParaRPr lang="es-AR" dirty="0"/>
          </a:p>
        </p:txBody>
      </p:sp>
      <p:pic>
        <p:nvPicPr>
          <p:cNvPr id="6" name="Imagen 5">
            <a:extLst>
              <a:ext uri="{FF2B5EF4-FFF2-40B4-BE49-F238E27FC236}">
                <a16:creationId xmlns:a16="http://schemas.microsoft.com/office/drawing/2014/main" id="{89BB01E7-34D2-D531-6504-9FF4A4B94727}"/>
              </a:ext>
            </a:extLst>
          </p:cNvPr>
          <p:cNvPicPr>
            <a:picLocks noChangeAspect="1"/>
          </p:cNvPicPr>
          <p:nvPr/>
        </p:nvPicPr>
        <p:blipFill>
          <a:blip r:embed="rId2"/>
          <a:stretch>
            <a:fillRect/>
          </a:stretch>
        </p:blipFill>
        <p:spPr>
          <a:xfrm>
            <a:off x="6948091" y="2639980"/>
            <a:ext cx="3467584" cy="1790950"/>
          </a:xfrm>
          <a:prstGeom prst="rect">
            <a:avLst/>
          </a:prstGeom>
          <a:ln>
            <a:noFill/>
          </a:ln>
          <a:effectLst>
            <a:outerShdw blurRad="292100" dist="139700" dir="2700000" algn="tl" rotWithShape="0">
              <a:srgbClr val="333333">
                <a:alpha val="65000"/>
              </a:srgbClr>
            </a:outerShdw>
          </a:effectLst>
        </p:spPr>
      </p:pic>
      <p:pic>
        <p:nvPicPr>
          <p:cNvPr id="8" name="Imagen 7">
            <a:extLst>
              <a:ext uri="{FF2B5EF4-FFF2-40B4-BE49-F238E27FC236}">
                <a16:creationId xmlns:a16="http://schemas.microsoft.com/office/drawing/2014/main" id="{7FD86BB2-578F-4603-A2C6-0F5F483E44D1}"/>
              </a:ext>
            </a:extLst>
          </p:cNvPr>
          <p:cNvPicPr>
            <a:picLocks noChangeAspect="1"/>
          </p:cNvPicPr>
          <p:nvPr/>
        </p:nvPicPr>
        <p:blipFill>
          <a:blip r:embed="rId3"/>
          <a:stretch>
            <a:fillRect/>
          </a:stretch>
        </p:blipFill>
        <p:spPr>
          <a:xfrm>
            <a:off x="6948091" y="4598366"/>
            <a:ext cx="3456122" cy="95686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89193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24EF9-2FA8-3968-EC1D-01F0C93A801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66CBD9B-72C5-F29C-28B9-4C0AE412CFB1}"/>
              </a:ext>
            </a:extLst>
          </p:cNvPr>
          <p:cNvSpPr>
            <a:spLocks noGrp="1"/>
          </p:cNvSpPr>
          <p:nvPr>
            <p:ph type="title"/>
          </p:nvPr>
        </p:nvSpPr>
        <p:spPr/>
        <p:txBody>
          <a:bodyPr/>
          <a:lstStyle/>
          <a:p>
            <a:r>
              <a:rPr lang="es-ES" dirty="0" err="1"/>
              <a:t>Array.map</a:t>
            </a:r>
            <a:r>
              <a:rPr lang="es-ES" dirty="0"/>
              <a:t>()</a:t>
            </a:r>
            <a:endParaRPr lang="es-AR" dirty="0"/>
          </a:p>
        </p:txBody>
      </p:sp>
      <p:pic>
        <p:nvPicPr>
          <p:cNvPr id="9" name="Imagen 8">
            <a:extLst>
              <a:ext uri="{FF2B5EF4-FFF2-40B4-BE49-F238E27FC236}">
                <a16:creationId xmlns:a16="http://schemas.microsoft.com/office/drawing/2014/main" id="{8FAA3063-ACFF-DBE6-30C9-796427D13500}"/>
              </a:ext>
            </a:extLst>
          </p:cNvPr>
          <p:cNvPicPr>
            <a:picLocks noChangeAspect="1"/>
          </p:cNvPicPr>
          <p:nvPr/>
        </p:nvPicPr>
        <p:blipFill>
          <a:blip r:embed="rId2"/>
          <a:stretch>
            <a:fillRect/>
          </a:stretch>
        </p:blipFill>
        <p:spPr>
          <a:xfrm>
            <a:off x="723795" y="3112839"/>
            <a:ext cx="10744409" cy="225765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46033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B43B1-B4BE-72C7-6D11-594DED6B717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E10528C-3CE1-B085-16C0-B513AE64C287}"/>
              </a:ext>
            </a:extLst>
          </p:cNvPr>
          <p:cNvSpPr>
            <a:spLocks noGrp="1"/>
          </p:cNvSpPr>
          <p:nvPr>
            <p:ph type="title"/>
          </p:nvPr>
        </p:nvSpPr>
        <p:spPr/>
        <p:txBody>
          <a:bodyPr/>
          <a:lstStyle/>
          <a:p>
            <a:r>
              <a:rPr lang="es-ES" dirty="0" err="1"/>
              <a:t>Array.map</a:t>
            </a:r>
            <a:r>
              <a:rPr lang="es-ES" dirty="0"/>
              <a:t>()</a:t>
            </a:r>
            <a:endParaRPr lang="es-AR" dirty="0"/>
          </a:p>
        </p:txBody>
      </p:sp>
      <p:pic>
        <p:nvPicPr>
          <p:cNvPr id="11" name="Imagen 10">
            <a:extLst>
              <a:ext uri="{FF2B5EF4-FFF2-40B4-BE49-F238E27FC236}">
                <a16:creationId xmlns:a16="http://schemas.microsoft.com/office/drawing/2014/main" id="{9DB82463-7C42-D76C-E313-8A2D32E534DD}"/>
              </a:ext>
            </a:extLst>
          </p:cNvPr>
          <p:cNvPicPr>
            <a:picLocks noChangeAspect="1"/>
          </p:cNvPicPr>
          <p:nvPr/>
        </p:nvPicPr>
        <p:blipFill>
          <a:blip r:embed="rId2"/>
          <a:stretch>
            <a:fillRect/>
          </a:stretch>
        </p:blipFill>
        <p:spPr>
          <a:xfrm>
            <a:off x="2231136" y="2488527"/>
            <a:ext cx="7729728" cy="1880946"/>
          </a:xfrm>
          <a:prstGeom prst="rect">
            <a:avLst/>
          </a:prstGeom>
          <a:ln>
            <a:noFill/>
          </a:ln>
          <a:effectLst>
            <a:outerShdw blurRad="292100" dist="139700" dir="2700000" algn="tl" rotWithShape="0">
              <a:srgbClr val="333333">
                <a:alpha val="65000"/>
              </a:srgbClr>
            </a:outerShdw>
          </a:effectLst>
        </p:spPr>
      </p:pic>
      <p:pic>
        <p:nvPicPr>
          <p:cNvPr id="13" name="Imagen 12">
            <a:extLst>
              <a:ext uri="{FF2B5EF4-FFF2-40B4-BE49-F238E27FC236}">
                <a16:creationId xmlns:a16="http://schemas.microsoft.com/office/drawing/2014/main" id="{5DC384F9-A3A7-4587-E8FD-F7DE77D489B3}"/>
              </a:ext>
            </a:extLst>
          </p:cNvPr>
          <p:cNvPicPr>
            <a:picLocks noChangeAspect="1"/>
          </p:cNvPicPr>
          <p:nvPr/>
        </p:nvPicPr>
        <p:blipFill>
          <a:blip r:embed="rId3"/>
          <a:stretch>
            <a:fillRect/>
          </a:stretch>
        </p:blipFill>
        <p:spPr>
          <a:xfrm>
            <a:off x="1845547" y="4704588"/>
            <a:ext cx="8500906" cy="128920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70626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A67775-31C4-63E0-C2D3-D72231E2468E}"/>
              </a:ext>
            </a:extLst>
          </p:cNvPr>
          <p:cNvSpPr>
            <a:spLocks noGrp="1"/>
          </p:cNvSpPr>
          <p:nvPr>
            <p:ph type="title"/>
          </p:nvPr>
        </p:nvSpPr>
        <p:spPr/>
        <p:txBody>
          <a:bodyPr/>
          <a:lstStyle/>
          <a:p>
            <a:r>
              <a:rPr lang="es-ES" dirty="0"/>
              <a:t>Ejemplo útil de </a:t>
            </a:r>
            <a:r>
              <a:rPr lang="es-ES" dirty="0" err="1"/>
              <a:t>array.map</a:t>
            </a:r>
            <a:r>
              <a:rPr lang="es-ES" dirty="0"/>
              <a:t>() con objetos</a:t>
            </a:r>
            <a:endParaRPr lang="es-AR" dirty="0"/>
          </a:p>
        </p:txBody>
      </p:sp>
      <p:pic>
        <p:nvPicPr>
          <p:cNvPr id="5" name="Imagen 4">
            <a:extLst>
              <a:ext uri="{FF2B5EF4-FFF2-40B4-BE49-F238E27FC236}">
                <a16:creationId xmlns:a16="http://schemas.microsoft.com/office/drawing/2014/main" id="{8E801F39-E89C-D7F8-F44B-5FAE637D845D}"/>
              </a:ext>
            </a:extLst>
          </p:cNvPr>
          <p:cNvPicPr>
            <a:picLocks noChangeAspect="1"/>
          </p:cNvPicPr>
          <p:nvPr/>
        </p:nvPicPr>
        <p:blipFill>
          <a:blip r:embed="rId2"/>
          <a:stretch>
            <a:fillRect/>
          </a:stretch>
        </p:blipFill>
        <p:spPr>
          <a:xfrm>
            <a:off x="2231137" y="2395394"/>
            <a:ext cx="7729728" cy="2035620"/>
          </a:xfrm>
          <a:prstGeom prst="rect">
            <a:avLst/>
          </a:prstGeom>
          <a:ln>
            <a:noFill/>
          </a:ln>
          <a:effectLst>
            <a:outerShdw blurRad="292100" dist="139700" dir="2700000" algn="tl" rotWithShape="0">
              <a:srgbClr val="333333">
                <a:alpha val="65000"/>
              </a:srgbClr>
            </a:outerShdw>
          </a:effectLst>
        </p:spPr>
      </p:pic>
      <p:pic>
        <p:nvPicPr>
          <p:cNvPr id="7" name="Imagen 6">
            <a:extLst>
              <a:ext uri="{FF2B5EF4-FFF2-40B4-BE49-F238E27FC236}">
                <a16:creationId xmlns:a16="http://schemas.microsoft.com/office/drawing/2014/main" id="{0C8BEDF8-C6A9-07BA-1B69-D867EB7A01A8}"/>
              </a:ext>
            </a:extLst>
          </p:cNvPr>
          <p:cNvPicPr>
            <a:picLocks noChangeAspect="1"/>
          </p:cNvPicPr>
          <p:nvPr/>
        </p:nvPicPr>
        <p:blipFill>
          <a:blip r:embed="rId3"/>
          <a:stretch>
            <a:fillRect/>
          </a:stretch>
        </p:blipFill>
        <p:spPr>
          <a:xfrm>
            <a:off x="3951393" y="4672996"/>
            <a:ext cx="4289213" cy="161748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47122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60A86AB-A843-A4C8-DF61-06BD6C3EADD8}"/>
              </a:ext>
            </a:extLst>
          </p:cNvPr>
          <p:cNvSpPr>
            <a:spLocks noGrp="1"/>
          </p:cNvSpPr>
          <p:nvPr>
            <p:ph type="title"/>
          </p:nvPr>
        </p:nvSpPr>
        <p:spPr>
          <a:xfrm>
            <a:off x="2231136" y="467418"/>
            <a:ext cx="7729728" cy="1188720"/>
          </a:xfrm>
          <a:solidFill>
            <a:srgbClr val="FFFFFF"/>
          </a:solidFill>
        </p:spPr>
        <p:txBody>
          <a:bodyPr>
            <a:normAutofit/>
          </a:bodyPr>
          <a:lstStyle/>
          <a:p>
            <a:r>
              <a:rPr lang="es-ES" dirty="0"/>
              <a:t>¿Dónde puedo encontrar más métodos?</a:t>
            </a:r>
            <a:endParaRPr lang="es-AR" dirty="0"/>
          </a:p>
        </p:txBody>
      </p:sp>
      <p:sp>
        <p:nvSpPr>
          <p:cNvPr id="3" name="Marcador de contenido 2">
            <a:extLst>
              <a:ext uri="{FF2B5EF4-FFF2-40B4-BE49-F238E27FC236}">
                <a16:creationId xmlns:a16="http://schemas.microsoft.com/office/drawing/2014/main" id="{F20C1E72-B110-71F8-709F-A3A03D69DDCA}"/>
              </a:ext>
            </a:extLst>
          </p:cNvPr>
          <p:cNvSpPr>
            <a:spLocks noGrp="1"/>
          </p:cNvSpPr>
          <p:nvPr>
            <p:ph idx="1"/>
          </p:nvPr>
        </p:nvSpPr>
        <p:spPr>
          <a:xfrm>
            <a:off x="1706062" y="2291262"/>
            <a:ext cx="8779512" cy="2879256"/>
          </a:xfrm>
        </p:spPr>
        <p:txBody>
          <a:bodyPr>
            <a:normAutofit/>
          </a:bodyPr>
          <a:lstStyle/>
          <a:p>
            <a:r>
              <a:rPr lang="es-ES" dirty="0">
                <a:solidFill>
                  <a:srgbClr val="404040"/>
                </a:solidFill>
              </a:rPr>
              <a:t>Como la mayoría de las cosas, la programación se basa en la investigación propia. Uno nunca puede terminar de aprender todo, especialmente en un campo que está en constante cambio como este. Lo más recomendable es nunca quedarse con sólo las cosas que te enseñan (o quizá las cosas que </a:t>
            </a:r>
            <a:r>
              <a:rPr lang="es-ES" b="1" i="1" u="sng" dirty="0">
                <a:solidFill>
                  <a:srgbClr val="404040"/>
                </a:solidFill>
              </a:rPr>
              <a:t>no</a:t>
            </a:r>
            <a:r>
              <a:rPr lang="es-ES" dirty="0">
                <a:solidFill>
                  <a:srgbClr val="404040"/>
                </a:solidFill>
              </a:rPr>
              <a:t> te enseñan) en la secundaria.</a:t>
            </a:r>
            <a:br>
              <a:rPr lang="es-ES" dirty="0">
                <a:solidFill>
                  <a:srgbClr val="404040"/>
                </a:solidFill>
              </a:rPr>
            </a:br>
            <a:br>
              <a:rPr lang="es-ES" dirty="0">
                <a:solidFill>
                  <a:srgbClr val="404040"/>
                </a:solidFill>
              </a:rPr>
            </a:br>
            <a:r>
              <a:rPr lang="es-ES" dirty="0">
                <a:solidFill>
                  <a:srgbClr val="404040"/>
                </a:solidFill>
              </a:rPr>
              <a:t>Los mejores programadores investigaron por su propia cuenta y entrenaron sus proyectos a partir de su propia creatividad. </a:t>
            </a:r>
            <a:br>
              <a:rPr lang="es-AR" dirty="0">
                <a:solidFill>
                  <a:srgbClr val="404040"/>
                </a:solidFill>
              </a:rPr>
            </a:br>
            <a:br>
              <a:rPr lang="es-AR" dirty="0">
                <a:solidFill>
                  <a:srgbClr val="404040"/>
                </a:solidFill>
              </a:rPr>
            </a:br>
            <a:r>
              <a:rPr lang="es-AR" dirty="0">
                <a:solidFill>
                  <a:srgbClr val="404040"/>
                </a:solidFill>
              </a:rPr>
              <a:t>Experimenten, prueben y aprendan. Nunca está de más saber muchas cosas.</a:t>
            </a:r>
            <a:endParaRPr lang="es-ES" dirty="0">
              <a:solidFill>
                <a:srgbClr val="404040"/>
              </a:solidFill>
            </a:endParaRPr>
          </a:p>
        </p:txBody>
      </p:sp>
    </p:spTree>
    <p:extLst>
      <p:ext uri="{BB962C8B-B14F-4D97-AF65-F5344CB8AC3E}">
        <p14:creationId xmlns:p14="http://schemas.microsoft.com/office/powerpoint/2010/main" val="2233033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9EAECCC-5517-21F0-96FD-C5521513F8F3}"/>
              </a:ext>
            </a:extLst>
          </p:cNvPr>
          <p:cNvSpPr>
            <a:spLocks noGrp="1"/>
          </p:cNvSpPr>
          <p:nvPr>
            <p:ph type="title"/>
          </p:nvPr>
        </p:nvSpPr>
        <p:spPr>
          <a:xfrm>
            <a:off x="2231136" y="467418"/>
            <a:ext cx="7729728" cy="1188720"/>
          </a:xfrm>
          <a:solidFill>
            <a:srgbClr val="FFFFFF"/>
          </a:solidFill>
        </p:spPr>
        <p:txBody>
          <a:bodyPr>
            <a:normAutofit/>
          </a:bodyPr>
          <a:lstStyle/>
          <a:p>
            <a:r>
              <a:rPr lang="es-ES" dirty="0"/>
              <a:t>Links útiles para métodos de </a:t>
            </a:r>
            <a:r>
              <a:rPr lang="es-ES" dirty="0" err="1"/>
              <a:t>arrays</a:t>
            </a:r>
            <a:endParaRPr lang="es-AR" dirty="0"/>
          </a:p>
        </p:txBody>
      </p:sp>
      <p:sp>
        <p:nvSpPr>
          <p:cNvPr id="3" name="Marcador de contenido 2">
            <a:extLst>
              <a:ext uri="{FF2B5EF4-FFF2-40B4-BE49-F238E27FC236}">
                <a16:creationId xmlns:a16="http://schemas.microsoft.com/office/drawing/2014/main" id="{2D457C10-A42E-1C18-959A-77C1E049240A}"/>
              </a:ext>
            </a:extLst>
          </p:cNvPr>
          <p:cNvSpPr>
            <a:spLocks noGrp="1"/>
          </p:cNvSpPr>
          <p:nvPr>
            <p:ph idx="1"/>
          </p:nvPr>
        </p:nvSpPr>
        <p:spPr>
          <a:xfrm>
            <a:off x="1706062" y="2291262"/>
            <a:ext cx="8779512" cy="2879256"/>
          </a:xfrm>
        </p:spPr>
        <p:txBody>
          <a:bodyPr>
            <a:normAutofit/>
          </a:bodyPr>
          <a:lstStyle/>
          <a:p>
            <a:pPr marL="0" indent="0">
              <a:buNone/>
            </a:pPr>
            <a:r>
              <a:rPr lang="es-AR" b="0" dirty="0">
                <a:solidFill>
                  <a:srgbClr val="404040"/>
                </a:solidFill>
                <a:effectLst/>
                <a:latin typeface="Consolas" panose="020B0609020204030204" pitchFamily="49" charset="0"/>
                <a:hlinkClick r:id="rId2"/>
              </a:rPr>
              <a:t>https://www.w3schools.com/js/js_array_methods.asp</a:t>
            </a:r>
            <a:endParaRPr lang="es-AR" dirty="0">
              <a:solidFill>
                <a:srgbClr val="404040"/>
              </a:solidFill>
              <a:latin typeface="Consolas" panose="020B0609020204030204" pitchFamily="49" charset="0"/>
            </a:endParaRPr>
          </a:p>
          <a:p>
            <a:pPr marL="0" indent="0">
              <a:buNone/>
            </a:pPr>
            <a:r>
              <a:rPr lang="es-AR" b="0" dirty="0">
                <a:solidFill>
                  <a:srgbClr val="404040"/>
                </a:solidFill>
                <a:effectLst/>
                <a:latin typeface="Consolas" panose="020B0609020204030204" pitchFamily="49" charset="0"/>
              </a:rPr>
              <a:t>https://www.w3schools.com/js/js_array_iteration.asp</a:t>
            </a:r>
            <a:br>
              <a:rPr lang="es-AR" b="0" dirty="0">
                <a:solidFill>
                  <a:srgbClr val="404040"/>
                </a:solidFill>
                <a:effectLst/>
                <a:latin typeface="Consolas" panose="020B0609020204030204" pitchFamily="49" charset="0"/>
              </a:rPr>
            </a:br>
            <a:endParaRPr lang="es-AR" b="0" dirty="0">
              <a:solidFill>
                <a:srgbClr val="404040"/>
              </a:solidFill>
              <a:effectLst/>
              <a:latin typeface="Consolas" panose="020B0609020204030204" pitchFamily="49" charset="0"/>
            </a:endParaRPr>
          </a:p>
          <a:p>
            <a:endParaRPr lang="es-AR" dirty="0">
              <a:solidFill>
                <a:srgbClr val="404040"/>
              </a:solidFill>
            </a:endParaRPr>
          </a:p>
        </p:txBody>
      </p:sp>
    </p:spTree>
    <p:extLst>
      <p:ext uri="{BB962C8B-B14F-4D97-AF65-F5344CB8AC3E}">
        <p14:creationId xmlns:p14="http://schemas.microsoft.com/office/powerpoint/2010/main" val="616231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Paquete">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8733208C828A0409B88C3F13BDC33A0" ma:contentTypeVersion="4" ma:contentTypeDescription="Create a new document." ma:contentTypeScope="" ma:versionID="d213e370b244847269b00bb75cf1b1d8">
  <xsd:schema xmlns:xsd="http://www.w3.org/2001/XMLSchema" xmlns:xs="http://www.w3.org/2001/XMLSchema" xmlns:p="http://schemas.microsoft.com/office/2006/metadata/properties" xmlns:ns3="0c3b2162-9bab-4fc9-97d6-f987dde52638" targetNamespace="http://schemas.microsoft.com/office/2006/metadata/properties" ma:root="true" ma:fieldsID="eede56b52e2659b18c5af9f8230c8e9c" ns3:_="">
    <xsd:import namespace="0c3b2162-9bab-4fc9-97d6-f987dde52638"/>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c3b2162-9bab-4fc9-97d6-f987dde5263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3C0D452-F1AD-4383-B79A-1FE4A30597E5}">
  <ds:schemaRefs>
    <ds:schemaRef ds:uri="http://schemas.microsoft.com/sharepoint/v3/contenttype/forms"/>
  </ds:schemaRefs>
</ds:datastoreItem>
</file>

<file path=customXml/itemProps2.xml><?xml version="1.0" encoding="utf-8"?>
<ds:datastoreItem xmlns:ds="http://schemas.openxmlformats.org/officeDocument/2006/customXml" ds:itemID="{954AC2CD-81D3-4AEF-8940-FA44E667BF6D}">
  <ds:schemaRefs>
    <ds:schemaRef ds:uri="http://schemas.openxmlformats.org/package/2006/metadata/core-properties"/>
    <ds:schemaRef ds:uri="http://purl.org/dc/dcmitype/"/>
    <ds:schemaRef ds:uri="http://purl.org/dc/elements/1.1/"/>
    <ds:schemaRef ds:uri="0c3b2162-9bab-4fc9-97d6-f987dde52638"/>
    <ds:schemaRef ds:uri="http://www.w3.org/XML/1998/namespace"/>
    <ds:schemaRef ds:uri="http://schemas.microsoft.com/office/2006/documentManagement/types"/>
    <ds:schemaRef ds:uri="http://purl.org/dc/terms/"/>
    <ds:schemaRef ds:uri="http://schemas.microsoft.com/office/infopath/2007/PartnerControls"/>
    <ds:schemaRef ds:uri="http://schemas.microsoft.com/office/2006/metadata/properties"/>
  </ds:schemaRefs>
</ds:datastoreItem>
</file>

<file path=customXml/itemProps3.xml><?xml version="1.0" encoding="utf-8"?>
<ds:datastoreItem xmlns:ds="http://schemas.openxmlformats.org/officeDocument/2006/customXml" ds:itemID="{65E1B2EE-074E-478C-A6A1-B98EBE85149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c3b2162-9bab-4fc9-97d6-f987dde5263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a6fe1b1e-97b7-422d-b1bc-e37254398663}" enabled="0" method="" siteId="{a6fe1b1e-97b7-422d-b1bc-e37254398663}" removed="1"/>
</clbl:labelList>
</file>

<file path=docProps/app.xml><?xml version="1.0" encoding="utf-8"?>
<Properties xmlns="http://schemas.openxmlformats.org/officeDocument/2006/extended-properties" xmlns:vt="http://schemas.openxmlformats.org/officeDocument/2006/docPropsVTypes">
  <Template>TM10001115[[fn=Paquete]]</Template>
  <TotalTime>2929</TotalTime>
  <Words>2198</Words>
  <Application>Microsoft Office PowerPoint</Application>
  <PresentationFormat>Panorámica</PresentationFormat>
  <Paragraphs>177</Paragraphs>
  <Slides>50</Slides>
  <Notes>0</Notes>
  <HiddenSlides>0</HiddenSlides>
  <MMClips>0</MMClips>
  <ScaleCrop>false</ScaleCrop>
  <HeadingPairs>
    <vt:vector size="8" baseType="variant">
      <vt:variant>
        <vt:lpstr>Fuentes usadas</vt:lpstr>
      </vt:variant>
      <vt:variant>
        <vt:i4>3</vt:i4>
      </vt:variant>
      <vt:variant>
        <vt:lpstr>Tema</vt:lpstr>
      </vt:variant>
      <vt:variant>
        <vt:i4>1</vt:i4>
      </vt:variant>
      <vt:variant>
        <vt:lpstr>Servidores OLE incrustados</vt:lpstr>
      </vt:variant>
      <vt:variant>
        <vt:i4>1</vt:i4>
      </vt:variant>
      <vt:variant>
        <vt:lpstr>Títulos de diapositiva</vt:lpstr>
      </vt:variant>
      <vt:variant>
        <vt:i4>50</vt:i4>
      </vt:variant>
    </vt:vector>
  </HeadingPairs>
  <TitlesOfParts>
    <vt:vector size="55" baseType="lpstr">
      <vt:lpstr>Arial</vt:lpstr>
      <vt:lpstr>Consolas</vt:lpstr>
      <vt:lpstr>Gill Sans MT</vt:lpstr>
      <vt:lpstr>Paquete</vt:lpstr>
      <vt:lpstr>Image</vt:lpstr>
      <vt:lpstr>REPASO JAVASCRIPT</vt:lpstr>
      <vt:lpstr>Declaración de variables</vt:lpstr>
      <vt:lpstr>Operadores de declaración</vt:lpstr>
      <vt:lpstr>Scope (alcance) de las variables</vt:lpstr>
      <vt:lpstr>¿Qué es un if?</vt:lpstr>
      <vt:lpstr>If</vt:lpstr>
      <vt:lpstr>Sintaxis de un if</vt:lpstr>
      <vt:lpstr>¿Cómo defino una condición?</vt:lpstr>
      <vt:lpstr>¿Qué son los truthys y falsys?</vt:lpstr>
      <vt:lpstr>Operadores de comparación</vt:lpstr>
      <vt:lpstr>¿Qué es un operador comparador?</vt:lpstr>
      <vt:lpstr>Tabla de operadores comparadores</vt:lpstr>
      <vt:lpstr>¿Cómo puedo usar un if y un else?</vt:lpstr>
      <vt:lpstr>Funciones</vt:lpstr>
      <vt:lpstr>¿Qué es una función?</vt:lpstr>
      <vt:lpstr>Partes de las funciones</vt:lpstr>
      <vt:lpstr>Aclaración importante</vt:lpstr>
      <vt:lpstr>¿Todas las funciones deben tener un parámetro y retorno?</vt:lpstr>
      <vt:lpstr>Presentación de PowerPoint</vt:lpstr>
      <vt:lpstr>¿Cuáles son los tipos de funciones?</vt:lpstr>
      <vt:lpstr>Funciones definidas</vt:lpstr>
      <vt:lpstr>Función flecha</vt:lpstr>
      <vt:lpstr>Función flecha con retorno implícito</vt:lpstr>
      <vt:lpstr>En resumen</vt:lpstr>
      <vt:lpstr>¿Qué es una función internamente?</vt:lpstr>
      <vt:lpstr>Diferencias invocación y definición</vt:lpstr>
      <vt:lpstr>Estructuras de repetición</vt:lpstr>
      <vt:lpstr>Loop for</vt:lpstr>
      <vt:lpstr>Loop while</vt:lpstr>
      <vt:lpstr>Loop do… while</vt:lpstr>
      <vt:lpstr>Objetos</vt:lpstr>
      <vt:lpstr>¿Cómo defino a un objeto?</vt:lpstr>
      <vt:lpstr>Alternativamente, se puede definir a pedro y pancho así</vt:lpstr>
      <vt:lpstr>¿Cómo accedo a los valores de un objeto?</vt:lpstr>
      <vt:lpstr>Modificando y agregando valores del objeto</vt:lpstr>
      <vt:lpstr>Arrays</vt:lpstr>
      <vt:lpstr>¿Qué es un array?</vt:lpstr>
      <vt:lpstr>Recorrer un array con array.length</vt:lpstr>
      <vt:lpstr>Espacio de actividad para recorrer arrays</vt:lpstr>
      <vt:lpstr>Métodos de arrays</vt:lpstr>
      <vt:lpstr>¿Métodos de Arrays?</vt:lpstr>
      <vt:lpstr>Push y pop</vt:lpstr>
      <vt:lpstr>Array.foreach()</vt:lpstr>
      <vt:lpstr>Array.filter()</vt:lpstr>
      <vt:lpstr>Array.map()</vt:lpstr>
      <vt:lpstr>Array.map()</vt:lpstr>
      <vt:lpstr>Array.map()</vt:lpstr>
      <vt:lpstr>Ejemplo útil de array.map() con objetos</vt:lpstr>
      <vt:lpstr>¿Dónde puedo encontrar más métodos?</vt:lpstr>
      <vt:lpstr>Links útiles para métodos de arrays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Matias Zuran</dc:creator>
  <cp:lastModifiedBy>Matias Zuran</cp:lastModifiedBy>
  <cp:revision>7</cp:revision>
  <dcterms:created xsi:type="dcterms:W3CDTF">2024-10-04T13:10:32Z</dcterms:created>
  <dcterms:modified xsi:type="dcterms:W3CDTF">2025-11-16T17:09:14Z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0x010100C8733208C828A0409B88C3F13BDC33A0</vt:lpwstr>
  </property>
</Properties>
</file>